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handoutMasterIdLst>
    <p:handoutMasterId r:id="rId35"/>
  </p:handoutMasterIdLst>
  <p:sldIdLst>
    <p:sldId id="299" r:id="rId2"/>
    <p:sldId id="401" r:id="rId3"/>
    <p:sldId id="402" r:id="rId4"/>
    <p:sldId id="453" r:id="rId5"/>
    <p:sldId id="403" r:id="rId6"/>
    <p:sldId id="418" r:id="rId7"/>
    <p:sldId id="406" r:id="rId8"/>
    <p:sldId id="404" r:id="rId9"/>
    <p:sldId id="454" r:id="rId10"/>
    <p:sldId id="405" r:id="rId11"/>
    <p:sldId id="400" r:id="rId12"/>
    <p:sldId id="392" r:id="rId13"/>
    <p:sldId id="393" r:id="rId14"/>
    <p:sldId id="409" r:id="rId15"/>
    <p:sldId id="408" r:id="rId16"/>
    <p:sldId id="395" r:id="rId17"/>
    <p:sldId id="413" r:id="rId18"/>
    <p:sldId id="412" r:id="rId19"/>
    <p:sldId id="411" r:id="rId20"/>
    <p:sldId id="394" r:id="rId21"/>
    <p:sldId id="407" r:id="rId22"/>
    <p:sldId id="410" r:id="rId23"/>
    <p:sldId id="415" r:id="rId24"/>
    <p:sldId id="414" r:id="rId25"/>
    <p:sldId id="396" r:id="rId26"/>
    <p:sldId id="397" r:id="rId27"/>
    <p:sldId id="399" r:id="rId28"/>
    <p:sldId id="455" r:id="rId29"/>
    <p:sldId id="416" r:id="rId30"/>
    <p:sldId id="417" r:id="rId31"/>
    <p:sldId id="452" r:id="rId32"/>
    <p:sldId id="348" r:id="rId33"/>
  </p:sldIdLst>
  <p:sldSz cx="9144000" cy="6858000" type="screen4x3"/>
  <p:notesSz cx="7104063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00"/>
    <a:srgbClr val="FFCCFF"/>
    <a:srgbClr val="FFFFCC"/>
    <a:srgbClr val="CCECFF"/>
    <a:srgbClr val="FFCC99"/>
    <a:srgbClr val="CC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6" autoAdjust="0"/>
    <p:restoredTop sz="94660"/>
  </p:normalViewPr>
  <p:slideViewPr>
    <p:cSldViewPr>
      <p:cViewPr varScale="1">
        <p:scale>
          <a:sx n="71" d="100"/>
          <a:sy n="71" d="100"/>
        </p:scale>
        <p:origin x="18" y="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836" y="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85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1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836" y="9721851"/>
            <a:ext cx="3078639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ea typeface="宋体" pitchFamily="2" charset="-122"/>
              </a:defRPr>
            </a:lvl1pPr>
          </a:lstStyle>
          <a:p>
            <a:pPr>
              <a:defRPr/>
            </a:pPr>
            <a:fld id="{84E02D4F-428B-4370-998F-536DFD6436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4593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639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36" y="1"/>
            <a:ext cx="3078639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ADC8EA5-4D14-4152-81A1-03915BC83B1F}" type="datetimeFigureOut">
              <a:rPr lang="zh-CN" altLang="en-US"/>
              <a:pPr>
                <a:defRPr/>
              </a:pPr>
              <a:t>2024/11/19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090" y="4860925"/>
            <a:ext cx="5683886" cy="4605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851"/>
            <a:ext cx="3078639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36" y="9721851"/>
            <a:ext cx="3078639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AF77969E-32A6-4FF2-854C-73CB0A6C63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9115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77969E-32A6-4FF2-854C-73CB0A6C63AA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576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2833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0056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6353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7355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1101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78581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993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6607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3871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7713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42616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rmal2_next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75" y="6457950"/>
            <a:ext cx="2381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Normal2_pre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457950"/>
            <a:ext cx="2381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fanhui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AFAFF"/>
              </a:clrFrom>
              <a:clrTo>
                <a:srgbClr val="FAFA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425" y="6464300"/>
            <a:ext cx="2317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8.tm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8.tmp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10" Type="http://schemas.openxmlformats.org/officeDocument/2006/relationships/tags" Target="../tags/tag39.xml"/><Relationship Id="rId19" Type="http://schemas.openxmlformats.org/officeDocument/2006/relationships/image" Target="../media/image8.tmp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image" Target="../media/image8.tmp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10" Type="http://schemas.openxmlformats.org/officeDocument/2006/relationships/tags" Target="../tags/tag56.xml"/><Relationship Id="rId19" Type="http://schemas.openxmlformats.org/officeDocument/2006/relationships/image" Target="../media/image21.emf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10" Type="http://schemas.openxmlformats.org/officeDocument/2006/relationships/tags" Target="../tags/tag73.xml"/><Relationship Id="rId19" Type="http://schemas.openxmlformats.org/officeDocument/2006/relationships/image" Target="../media/image8.tmp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8.tmp"/><Relationship Id="rId5" Type="http://schemas.openxmlformats.org/officeDocument/2006/relationships/tags" Target="../tags/tag8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84.xml"/><Relationship Id="rId9" Type="http://schemas.openxmlformats.org/officeDocument/2006/relationships/tags" Target="../tags/tag8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395288" y="908050"/>
            <a:ext cx="846296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u="sng" dirty="0">
                <a:solidFill>
                  <a:srgbClr val="FF3300"/>
                </a:solidFill>
              </a:rPr>
              <a:t>数学建模引论</a:t>
            </a: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4000" b="1" dirty="0">
                <a:latin typeface="隶书" pitchFamily="49" charset="-122"/>
                <a:ea typeface="隶书" pitchFamily="49" charset="-122"/>
              </a:rPr>
              <a:t>核酸检测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395288" y="3573463"/>
            <a:ext cx="8497887" cy="255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GB" sz="3200" b="1" dirty="0">
                <a:solidFill>
                  <a:schemeClr val="accent2"/>
                </a:solidFill>
              </a:rPr>
              <a:t>谢金星</a:t>
            </a:r>
          </a:p>
          <a:p>
            <a:pPr algn="ctr" eaLnBrk="1" hangingPunct="1"/>
            <a:r>
              <a:rPr lang="zh-CN" altLang="en-GB" sz="3200" b="1" dirty="0"/>
              <a:t>清华大学数学科学系</a:t>
            </a:r>
            <a:r>
              <a:rPr lang="en-GB" altLang="zh-CN" sz="3200" b="1" dirty="0"/>
              <a:t>  </a:t>
            </a:r>
          </a:p>
          <a:p>
            <a:pPr algn="ctr" eaLnBrk="1" hangingPunct="1"/>
            <a:r>
              <a:rPr lang="en-GB" altLang="zh-CN" sz="3200" b="1" dirty="0"/>
              <a:t>Tel: 010-62787812</a:t>
            </a:r>
          </a:p>
          <a:p>
            <a:pPr algn="ctr" eaLnBrk="1" hangingPunct="1"/>
            <a:r>
              <a:rPr lang="en-GB" altLang="zh-CN" sz="3200" b="1" dirty="0"/>
              <a:t>Email: </a:t>
            </a:r>
            <a:r>
              <a:rPr lang="en-GB" altLang="zh-CN" sz="3200" b="1" dirty="0" err="1"/>
              <a:t>xie</a:t>
            </a:r>
            <a:r>
              <a:rPr lang="en-US" altLang="zh-CN" sz="3200" b="1" dirty="0" err="1"/>
              <a:t>jx</a:t>
            </a:r>
            <a:r>
              <a:rPr lang="en-GB" altLang="zh-CN" sz="3200" b="1" dirty="0"/>
              <a:t>@tsinghua.edu.cn</a:t>
            </a:r>
            <a:r>
              <a:rPr lang="en-US" altLang="zh-CN" sz="3200" b="1" dirty="0"/>
              <a:t> </a:t>
            </a:r>
          </a:p>
          <a:p>
            <a:pPr algn="ctr" eaLnBrk="1" hangingPunct="1"/>
            <a:endParaRPr lang="en-US" altLang="zh-C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528" y="404664"/>
            <a:ext cx="7772400" cy="648072"/>
          </a:xfrm>
        </p:spPr>
        <p:txBody>
          <a:bodyPr/>
          <a:lstStyle/>
          <a:p>
            <a:r>
              <a:rPr lang="en-US" altLang="zh-CN" sz="3600" b="1" dirty="0">
                <a:solidFill>
                  <a:schemeClr val="accent2"/>
                </a:solidFill>
              </a:rPr>
              <a:t>2021</a:t>
            </a:r>
            <a:r>
              <a:rPr lang="zh-CN" altLang="en-US" sz="3600" b="1" dirty="0">
                <a:solidFill>
                  <a:schemeClr val="accent2"/>
                </a:solidFill>
              </a:rPr>
              <a:t>年北京高考数学第</a:t>
            </a:r>
            <a:r>
              <a:rPr lang="en-US" altLang="zh-CN" sz="3600" b="1" dirty="0">
                <a:solidFill>
                  <a:schemeClr val="accent2"/>
                </a:solidFill>
              </a:rPr>
              <a:t>18</a:t>
            </a:r>
            <a:r>
              <a:rPr lang="zh-CN" altLang="en-US" sz="3600" b="1" dirty="0">
                <a:solidFill>
                  <a:schemeClr val="accent2"/>
                </a:solidFill>
              </a:rPr>
              <a:t>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7504" y="1124744"/>
            <a:ext cx="8856984" cy="2880320"/>
          </a:xfrm>
        </p:spPr>
        <p:txBody>
          <a:bodyPr/>
          <a:lstStyle/>
          <a:p>
            <a:pPr algn="l"/>
            <a:r>
              <a:rPr lang="zh-CN" altLang="en-US" sz="2800" b="1" dirty="0">
                <a:latin typeface="+mn-ea"/>
              </a:rPr>
              <a:t>为加快新冠肺炎检测效率，某检测机构采取</a:t>
            </a:r>
            <a:r>
              <a:rPr lang="zh-CN" altLang="en-US" sz="2800" b="1" dirty="0">
                <a:highlight>
                  <a:srgbClr val="FFFF00"/>
                </a:highlight>
                <a:latin typeface="+mn-ea"/>
              </a:rPr>
              <a:t>“</a:t>
            </a:r>
            <a:r>
              <a:rPr lang="en-US" altLang="zh-CN" sz="2800" b="1" i="1" dirty="0">
                <a:highlight>
                  <a:srgbClr val="FFFF00"/>
                </a:highlight>
              </a:rPr>
              <a:t>k</a:t>
            </a:r>
            <a:r>
              <a:rPr lang="zh-CN" altLang="en-US" sz="2800" b="1" dirty="0">
                <a:highlight>
                  <a:srgbClr val="FFFF00"/>
                </a:highlight>
                <a:latin typeface="+mn-ea"/>
              </a:rPr>
              <a:t>合</a:t>
            </a:r>
            <a:r>
              <a:rPr lang="en-US" altLang="zh-CN" sz="28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2800" b="1" dirty="0">
                <a:highlight>
                  <a:srgbClr val="FFFF00"/>
                </a:highlight>
                <a:latin typeface="+mn-ea"/>
              </a:rPr>
              <a:t>检测法”</a:t>
            </a:r>
            <a:r>
              <a:rPr lang="zh-CN" altLang="en-US" sz="2800" b="1" dirty="0">
                <a:latin typeface="+mn-ea"/>
              </a:rPr>
              <a:t>，即将</a:t>
            </a:r>
            <a:r>
              <a:rPr lang="en-US" altLang="zh-CN" sz="2800" b="1" i="1" dirty="0"/>
              <a:t>k</a:t>
            </a:r>
            <a:r>
              <a:rPr lang="zh-CN" altLang="en-US" sz="2800" b="1" dirty="0">
                <a:latin typeface="+mn-ea"/>
              </a:rPr>
              <a:t>个人的拭子样本合并检测，若为阴性，则可以确定所有样本都是阴性的；若为阳性，则还需要对本组的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每个人</a:t>
            </a:r>
            <a:r>
              <a:rPr lang="zh-CN" altLang="en-US" sz="2800" b="1" dirty="0">
                <a:latin typeface="+mn-ea"/>
              </a:rPr>
              <a:t>再做检测．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现有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100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人，已知其中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人感染病毒．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115820" y="3356992"/>
            <a:ext cx="8856984" cy="2376264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sz="2800" b="1" kern="0" dirty="0">
                <a:latin typeface="+mn-ea"/>
              </a:rPr>
              <a:t>(1)</a:t>
            </a:r>
            <a:r>
              <a:rPr lang="zh-CN" altLang="en-US" sz="2800" b="1" kern="0" dirty="0">
                <a:latin typeface="+mn-ea"/>
              </a:rPr>
              <a:t>①若采用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</a:rPr>
              <a:t>“</a:t>
            </a:r>
            <a:r>
              <a:rPr lang="en-US" altLang="zh-CN" sz="2800" b="1" kern="0" dirty="0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</a:rPr>
              <a:t>合</a:t>
            </a:r>
            <a:r>
              <a:rPr lang="en-US" altLang="zh-CN" sz="2800" b="1" kern="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</a:rPr>
              <a:t>检测法”</a:t>
            </a:r>
            <a:r>
              <a:rPr lang="en-US" altLang="zh-CN" sz="2800" b="1" kern="0" dirty="0">
                <a:latin typeface="+mn-ea"/>
              </a:rPr>
              <a:t>,</a:t>
            </a:r>
            <a:r>
              <a:rPr lang="zh-CN" altLang="en-US" sz="2800" b="1" kern="0" dirty="0">
                <a:latin typeface="+mn-ea"/>
              </a:rPr>
              <a:t>且两名患者在同一组，求总检测次数</a:t>
            </a:r>
            <a:r>
              <a:rPr lang="en-US" altLang="zh-CN" sz="2800" b="1" kern="0" dirty="0">
                <a:latin typeface="+mn-ea"/>
              </a:rPr>
              <a:t>;</a:t>
            </a:r>
          </a:p>
          <a:p>
            <a:pPr algn="l"/>
            <a:r>
              <a:rPr lang="en-US" altLang="zh-CN" sz="2800" b="1" kern="0" dirty="0">
                <a:latin typeface="+mn-ea"/>
              </a:rPr>
              <a:t>   ②</a:t>
            </a:r>
            <a:r>
              <a:rPr lang="zh-CN" altLang="en-US" sz="2800" b="1" kern="0" dirty="0">
                <a:latin typeface="+mn-ea"/>
              </a:rPr>
              <a:t>已知</a:t>
            </a:r>
            <a:r>
              <a:rPr lang="en-US" altLang="zh-CN" sz="2800" b="1" kern="0" dirty="0">
                <a:latin typeface="+mn-ea"/>
              </a:rPr>
              <a:t>10</a:t>
            </a:r>
            <a:r>
              <a:rPr lang="zh-CN" altLang="en-US" sz="2800" b="1" kern="0" dirty="0">
                <a:latin typeface="+mn-ea"/>
              </a:rPr>
              <a:t>人分成一组，分</a:t>
            </a:r>
            <a:r>
              <a:rPr lang="en-US" altLang="zh-CN" sz="2800" b="1" kern="0" dirty="0">
                <a:latin typeface="+mn-ea"/>
              </a:rPr>
              <a:t>10</a:t>
            </a:r>
            <a:r>
              <a:rPr lang="zh-CN" altLang="en-US" sz="2800" b="1" kern="0" dirty="0">
                <a:latin typeface="+mn-ea"/>
              </a:rPr>
              <a:t>组，两名感染患者在同一组的概率为</a:t>
            </a:r>
            <a:r>
              <a:rPr lang="en-US" altLang="zh-CN" sz="2800" b="1" kern="0" dirty="0">
                <a:latin typeface="+mn-ea"/>
              </a:rPr>
              <a:t>1/11</a:t>
            </a:r>
            <a:r>
              <a:rPr lang="zh-CN" altLang="en-US" sz="2800" b="1" kern="0" dirty="0">
                <a:latin typeface="+mn-ea"/>
              </a:rPr>
              <a:t>，定义随机变量</a:t>
            </a:r>
            <a:r>
              <a:rPr lang="en-US" altLang="zh-CN" sz="2800" b="1" kern="0" dirty="0">
                <a:latin typeface="+mn-ea"/>
              </a:rPr>
              <a:t>X</a:t>
            </a:r>
            <a:r>
              <a:rPr lang="zh-CN" altLang="en-US" sz="2800" b="1" kern="0" dirty="0">
                <a:latin typeface="+mn-ea"/>
              </a:rPr>
              <a:t>为总检测次数，求检测次数</a:t>
            </a:r>
            <a:r>
              <a:rPr lang="en-US" altLang="zh-CN" sz="2800" b="1" kern="0" dirty="0">
                <a:latin typeface="+mn-ea"/>
              </a:rPr>
              <a:t>X</a:t>
            </a:r>
            <a:r>
              <a:rPr lang="zh-CN" altLang="en-US" sz="2800" b="1" kern="0" dirty="0">
                <a:latin typeface="+mn-ea"/>
              </a:rPr>
              <a:t>的分布列和数学期望</a:t>
            </a:r>
            <a:r>
              <a:rPr lang="en-US" altLang="zh-CN" sz="2800" b="1" kern="0" dirty="0">
                <a:latin typeface="+mn-ea"/>
              </a:rPr>
              <a:t>E(X);</a:t>
            </a:r>
            <a:endParaRPr lang="zh-CN" altLang="en-US" sz="2800" b="1" kern="0" dirty="0">
              <a:latin typeface="+mn-ea"/>
            </a:endParaRPr>
          </a:p>
        </p:txBody>
      </p:sp>
      <p:sp>
        <p:nvSpPr>
          <p:cNvPr id="5" name="副标题 2"/>
          <p:cNvSpPr txBox="1">
            <a:spLocks/>
          </p:cNvSpPr>
          <p:nvPr/>
        </p:nvSpPr>
        <p:spPr>
          <a:xfrm>
            <a:off x="107504" y="5661248"/>
            <a:ext cx="8856984" cy="1008112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sz="2800" b="1" kern="0" dirty="0">
                <a:latin typeface="+mn-ea"/>
              </a:rPr>
              <a:t>(2)</a:t>
            </a:r>
            <a:r>
              <a:rPr lang="zh-CN" altLang="en-US" sz="2800" b="1" kern="0" dirty="0">
                <a:latin typeface="+mn-ea"/>
              </a:rPr>
              <a:t>若采用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</a:rPr>
              <a:t>“</a:t>
            </a:r>
            <a:r>
              <a:rPr lang="en-US" altLang="zh-CN" sz="2800" b="1" kern="0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</a:rPr>
              <a:t>合</a:t>
            </a:r>
            <a:r>
              <a:rPr lang="en-US" altLang="zh-CN" sz="2800" b="1" kern="0" dirty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800" b="1" kern="0" dirty="0">
                <a:solidFill>
                  <a:srgbClr val="FF0000"/>
                </a:solidFill>
                <a:latin typeface="+mn-ea"/>
              </a:rPr>
              <a:t>检测法”</a:t>
            </a:r>
            <a:r>
              <a:rPr lang="en-US" altLang="zh-CN" sz="2800" b="1" kern="0" dirty="0">
                <a:latin typeface="+mn-ea"/>
              </a:rPr>
              <a:t>, </a:t>
            </a:r>
            <a:r>
              <a:rPr lang="zh-CN" altLang="en-US" sz="2800" b="1" kern="0" dirty="0">
                <a:latin typeface="+mn-ea"/>
              </a:rPr>
              <a:t>检测次数</a:t>
            </a:r>
            <a:r>
              <a:rPr lang="en-US" altLang="zh-CN" sz="2800" b="1" kern="0" dirty="0">
                <a:latin typeface="+mn-ea"/>
              </a:rPr>
              <a:t>Y</a:t>
            </a:r>
            <a:r>
              <a:rPr lang="zh-CN" altLang="en-US" sz="2800" b="1" kern="0" dirty="0">
                <a:latin typeface="+mn-ea"/>
              </a:rPr>
              <a:t>的期望为</a:t>
            </a:r>
            <a:r>
              <a:rPr lang="en-US" altLang="zh-CN" sz="2800" b="1" kern="0" dirty="0">
                <a:latin typeface="+mn-ea"/>
              </a:rPr>
              <a:t>E(Y)</a:t>
            </a:r>
            <a:r>
              <a:rPr lang="zh-CN" altLang="en-US" sz="2800" b="1" kern="0" dirty="0">
                <a:latin typeface="+mn-ea"/>
              </a:rPr>
              <a:t>，试比较</a:t>
            </a:r>
            <a:r>
              <a:rPr lang="en-US" altLang="zh-CN" sz="2800" b="1" kern="0" dirty="0">
                <a:latin typeface="+mn-ea"/>
              </a:rPr>
              <a:t>E(X)</a:t>
            </a:r>
            <a:r>
              <a:rPr lang="zh-CN" altLang="en-US" sz="2800" b="1" kern="0" dirty="0">
                <a:latin typeface="+mn-ea"/>
              </a:rPr>
              <a:t>和</a:t>
            </a:r>
            <a:r>
              <a:rPr lang="en-US" altLang="zh-CN" sz="2800" b="1" kern="0" dirty="0">
                <a:latin typeface="+mn-ea"/>
              </a:rPr>
              <a:t>E(Y)</a:t>
            </a:r>
            <a:r>
              <a:rPr lang="zh-CN" altLang="en-US" sz="2800" b="1" kern="0" dirty="0">
                <a:latin typeface="+mn-ea"/>
              </a:rPr>
              <a:t>的大小</a:t>
            </a:r>
            <a:r>
              <a:rPr lang="en-US" altLang="zh-CN" sz="2800" b="1" kern="0" dirty="0">
                <a:latin typeface="+mn-ea"/>
              </a:rPr>
              <a:t>(</a:t>
            </a:r>
            <a:r>
              <a:rPr lang="zh-CN" altLang="en-US" sz="2800" b="1" kern="0" dirty="0">
                <a:latin typeface="+mn-ea"/>
              </a:rPr>
              <a:t>直接写出结果</a:t>
            </a:r>
            <a:r>
              <a:rPr lang="en-US" altLang="zh-CN" sz="2800" b="1" kern="0" dirty="0">
                <a:latin typeface="+mn-ea"/>
              </a:rPr>
              <a:t>)</a:t>
            </a:r>
            <a:r>
              <a:rPr lang="zh-CN" altLang="en-US" sz="2800" b="1" kern="0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5765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332656"/>
            <a:ext cx="4786028" cy="648072"/>
          </a:xfrm>
        </p:spPr>
        <p:txBody>
          <a:bodyPr/>
          <a:lstStyle/>
          <a:p>
            <a:r>
              <a:rPr lang="en-US" altLang="zh-CN" sz="3600" b="1" dirty="0">
                <a:solidFill>
                  <a:schemeClr val="accent2"/>
                </a:solidFill>
              </a:rPr>
              <a:t>2022</a:t>
            </a:r>
            <a:r>
              <a:rPr lang="zh-CN" altLang="en-US" sz="3600" b="1" dirty="0">
                <a:solidFill>
                  <a:schemeClr val="accent2"/>
                </a:solidFill>
              </a:rPr>
              <a:t>阿里巴巴全球数学大赛大众选题集锦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7504" y="1700808"/>
                <a:ext cx="5472608" cy="4752528"/>
              </a:xfrm>
            </p:spPr>
            <p:txBody>
              <a:bodyPr/>
              <a:lstStyle/>
              <a:p>
                <a:pPr algn="l">
                  <a:spcBef>
                    <a:spcPts val="1800"/>
                  </a:spcBef>
                </a:pPr>
                <a:r>
                  <a:rPr lang="zh-CN" altLang="en-US" sz="2800" b="1" dirty="0"/>
                  <a:t>假设：受检人数为</a:t>
                </a:r>
                <a:r>
                  <a:rPr lang="en-US" altLang="zh-CN" sz="2800" b="1" i="1" kern="1200" dirty="0"/>
                  <a:t>n</a:t>
                </a:r>
              </a:p>
              <a:p>
                <a:pPr algn="l">
                  <a:spcBef>
                    <a:spcPts val="1800"/>
                  </a:spcBef>
                </a:pPr>
                <a:r>
                  <a:rPr lang="en-US" altLang="zh-CN" sz="2800" b="1" dirty="0"/>
                  <a:t>            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感染</a:t>
                </a:r>
                <a:r>
                  <a:rPr lang="zh-CN" altLang="en-US" sz="2800" b="1" dirty="0"/>
                  <a:t>人数为</a:t>
                </a:r>
                <a:r>
                  <a:rPr lang="en-US" altLang="zh-CN" sz="2800" b="1" i="1" kern="1200" dirty="0"/>
                  <a:t>d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800" b="1" dirty="0"/>
                  <a:t>(0&lt;</a:t>
                </a:r>
                <a:r>
                  <a:rPr lang="en-US" altLang="zh-CN" sz="2800" b="1" i="1" kern="1200" dirty="0"/>
                  <a:t>d</a:t>
                </a:r>
                <a14:m>
                  <m:oMath xmlns:m="http://schemas.openxmlformats.org/officeDocument/2006/math">
                    <m:r>
                      <a:rPr lang="en-US" altLang="zh-CN" sz="2800" b="1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altLang="zh-CN" sz="2800" b="1" i="1" kern="1200" dirty="0"/>
                  <a:t>n</a:t>
                </a:r>
                <a:r>
                  <a:rPr lang="en-US" altLang="zh-CN" sz="2800" b="1" dirty="0"/>
                  <a:t>)</a:t>
                </a:r>
              </a:p>
              <a:p>
                <a:pPr algn="l">
                  <a:spcBef>
                    <a:spcPts val="1800"/>
                  </a:spcBef>
                </a:pPr>
                <a:r>
                  <a:rPr lang="zh-CN" altLang="en-US" sz="2800" b="1" dirty="0"/>
                  <a:t>           每次检测消耗</a:t>
                </a:r>
                <a:r>
                  <a:rPr lang="en-US" altLang="zh-CN" sz="2800" b="1" dirty="0"/>
                  <a:t>1</a:t>
                </a:r>
                <a:r>
                  <a:rPr lang="zh-CN" altLang="en-US" sz="2800" b="1" dirty="0"/>
                  <a:t>管试剂</a:t>
                </a:r>
              </a:p>
              <a:p>
                <a:pPr algn="l">
                  <a:spcBef>
                    <a:spcPts val="1800"/>
                  </a:spcBef>
                </a:pPr>
                <a:r>
                  <a:rPr lang="en-US" altLang="zh-CN" sz="2800" b="1" dirty="0"/>
                  <a:t>(1) </a:t>
                </a:r>
                <a:r>
                  <a:rPr lang="zh-CN" altLang="en-US" sz="2800" b="1" dirty="0"/>
                  <a:t>假设 </a:t>
                </a:r>
                <a:r>
                  <a:rPr lang="en-US" altLang="zh-CN" sz="2800" b="1" i="1" kern="1200" dirty="0"/>
                  <a:t>d</a:t>
                </a:r>
                <a:r>
                  <a:rPr lang="en-US" altLang="zh-CN" sz="2800" b="1" dirty="0"/>
                  <a:t>=1</a:t>
                </a:r>
                <a:r>
                  <a:rPr lang="zh-CN" altLang="en-US" sz="2800" b="1" dirty="0"/>
                  <a:t>，做一次彻底的筛查在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最坏情况</a:t>
                </a:r>
                <a:r>
                  <a:rPr lang="zh-CN" altLang="en-US" sz="2800" b="1" dirty="0"/>
                  <a:t>下需要多少管试剂？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  <a:p>
                <a:pPr algn="l">
                  <a:spcBef>
                    <a:spcPts val="1800"/>
                  </a:spcBef>
                </a:pPr>
                <a:r>
                  <a:rPr lang="en-US" altLang="zh-CN" sz="2800" b="1" dirty="0"/>
                  <a:t>(2)</a:t>
                </a:r>
                <a:r>
                  <a:rPr lang="zh-CN" altLang="en-US" sz="2800" b="1" dirty="0"/>
                  <a:t> </a:t>
                </a:r>
                <a:r>
                  <a:rPr lang="en-US" altLang="zh-CN" sz="2800" b="1" i="1" kern="1200" dirty="0"/>
                  <a:t>d</a:t>
                </a:r>
                <a:r>
                  <a:rPr lang="en-US" altLang="zh-CN" sz="2800" b="1" dirty="0"/>
                  <a:t> ≥ 1 </a:t>
                </a:r>
                <a:r>
                  <a:rPr lang="zh-CN" altLang="en-US" sz="2800" b="1" dirty="0"/>
                  <a:t>呢？</a:t>
                </a:r>
                <a:r>
                  <a:rPr lang="en-US" altLang="zh-CN" sz="2800" b="1" dirty="0"/>
                  <a:t> </a:t>
                </a:r>
              </a:p>
              <a:p>
                <a:pPr algn="l">
                  <a:spcBef>
                    <a:spcPts val="1800"/>
                  </a:spcBef>
                </a:pPr>
                <a:r>
                  <a:rPr lang="en-US" altLang="zh-CN" sz="2800" b="1" dirty="0"/>
                  <a:t>(3)</a:t>
                </a:r>
                <a:r>
                  <a:rPr lang="zh-CN" altLang="en-US" sz="2800" b="1" dirty="0"/>
                  <a:t> 假设 </a:t>
                </a:r>
                <a:r>
                  <a:rPr lang="en-US" altLang="zh-CN" sz="2800" b="1" i="1" kern="1200" dirty="0"/>
                  <a:t>d</a:t>
                </a:r>
                <a:r>
                  <a:rPr lang="en-US" altLang="zh-CN" sz="2800" b="1" dirty="0"/>
                  <a:t> ≥ 1</a:t>
                </a:r>
                <a:r>
                  <a:rPr lang="zh-CN" altLang="en-US" sz="2800" b="1" dirty="0"/>
                  <a:t>，不考虑最坏情况，而是考虑试剂的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期望</a:t>
                </a:r>
                <a:r>
                  <a:rPr lang="zh-CN" altLang="en-US" sz="2800" b="1" dirty="0"/>
                  <a:t>消耗呢？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7504" y="1700808"/>
                <a:ext cx="5472608" cy="4752528"/>
              </a:xfrm>
              <a:blipFill>
                <a:blip r:embed="rId2"/>
                <a:stretch>
                  <a:fillRect l="-2341" t="-1667" r="-1895" b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pic4.zhimg.com/v2-79d3fdafc55ed28be0227840607b26b7_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0"/>
            <a:ext cx="368539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6660232" y="3284984"/>
            <a:ext cx="23042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</a:rPr>
              <a:t>(</a:t>
            </a:r>
            <a:r>
              <a:rPr lang="zh-CN" altLang="en-US" sz="2000" b="1" dirty="0">
                <a:solidFill>
                  <a:schemeClr val="accent2"/>
                </a:solidFill>
              </a:rPr>
              <a:t>记号</a:t>
            </a:r>
            <a:r>
              <a:rPr lang="en-US" altLang="zh-CN" sz="2000" b="1" i="1" dirty="0">
                <a:solidFill>
                  <a:schemeClr val="accent2"/>
                </a:solidFill>
              </a:rPr>
              <a:t>m</a:t>
            </a:r>
            <a:r>
              <a:rPr lang="zh-CN" altLang="en-US" sz="2000" b="1" dirty="0">
                <a:solidFill>
                  <a:schemeClr val="accent2"/>
                </a:solidFill>
              </a:rPr>
              <a:t>换为</a:t>
            </a:r>
            <a:r>
              <a:rPr lang="en-US" altLang="zh-CN" sz="2000" b="1" i="1" dirty="0">
                <a:solidFill>
                  <a:schemeClr val="accent2"/>
                </a:solidFill>
              </a:rPr>
              <a:t>d</a:t>
            </a:r>
            <a:r>
              <a:rPr lang="en-US" altLang="zh-CN" sz="2000" b="1" dirty="0">
                <a:solidFill>
                  <a:schemeClr val="accent2"/>
                </a:solidFill>
              </a:rPr>
              <a:t>)</a:t>
            </a:r>
            <a:r>
              <a:rPr lang="zh-CN" altLang="en-US" sz="2000" b="1" dirty="0">
                <a:solidFill>
                  <a:schemeClr val="accent2"/>
                </a:solidFill>
              </a:rPr>
              <a:t> 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10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332656"/>
            <a:ext cx="6336704" cy="648072"/>
          </a:xfrm>
        </p:spPr>
        <p:txBody>
          <a:bodyPr/>
          <a:lstStyle/>
          <a:p>
            <a:r>
              <a:rPr lang="en-US" altLang="zh-CN" sz="3600" b="1" dirty="0">
                <a:solidFill>
                  <a:schemeClr val="accent2"/>
                </a:solidFill>
              </a:rPr>
              <a:t>2022</a:t>
            </a:r>
            <a:r>
              <a:rPr lang="zh-CN" altLang="en-US" sz="3600" b="1" dirty="0">
                <a:solidFill>
                  <a:schemeClr val="accent2"/>
                </a:solidFill>
              </a:rPr>
              <a:t>华东杯数学建模竞赛</a:t>
            </a:r>
            <a:r>
              <a:rPr lang="en-US" altLang="zh-CN" sz="3600" b="1" dirty="0">
                <a:solidFill>
                  <a:schemeClr val="accent2"/>
                </a:solidFill>
              </a:rPr>
              <a:t>A</a:t>
            </a:r>
            <a:r>
              <a:rPr lang="zh-CN" altLang="en-US" sz="3600" b="1" dirty="0">
                <a:solidFill>
                  <a:schemeClr val="accent2"/>
                </a:solidFill>
              </a:rPr>
              <a:t>题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8B87438-BF25-4CE5-8DEA-5A41CAB51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9108504" cy="590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374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2412" y="370913"/>
            <a:ext cx="5158815" cy="648072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accent2"/>
                </a:solidFill>
              </a:rPr>
              <a:t>群组检测问题 </a:t>
            </a:r>
            <a:br>
              <a:rPr lang="en-US" altLang="zh-CN" sz="3600" b="1" dirty="0">
                <a:solidFill>
                  <a:schemeClr val="accent2"/>
                </a:solidFill>
              </a:rPr>
            </a:br>
            <a:r>
              <a:rPr lang="en-US" altLang="zh-CN" sz="3600" b="1" dirty="0">
                <a:solidFill>
                  <a:schemeClr val="accent2"/>
                </a:solidFill>
              </a:rPr>
              <a:t>(Group Testing Problem)</a:t>
            </a:r>
            <a:endParaRPr lang="zh-CN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206489" y="1716361"/>
            <a:ext cx="5301615" cy="1152128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</a:rPr>
              <a:t>起源：</a:t>
            </a:r>
            <a:r>
              <a:rPr lang="en-US" altLang="zh-CN" sz="2800" b="1" dirty="0"/>
              <a:t>R. </a:t>
            </a:r>
            <a:r>
              <a:rPr lang="en-US" altLang="zh-CN" sz="2800" b="1" dirty="0" err="1"/>
              <a:t>Dorfman</a:t>
            </a:r>
            <a:r>
              <a:rPr lang="en-US" altLang="zh-CN" sz="2800" b="1" dirty="0"/>
              <a:t> (1943) </a:t>
            </a:r>
            <a:r>
              <a:rPr lang="zh-CN" altLang="zh-CN" sz="2800" b="1" dirty="0"/>
              <a:t>为美国公共健康服务和筛选服务系统设计了一个</a:t>
            </a:r>
            <a:r>
              <a:rPr lang="zh-CN" altLang="zh-CN" sz="2800" b="1" dirty="0">
                <a:solidFill>
                  <a:srgbClr val="FF0000"/>
                </a:solidFill>
              </a:rPr>
              <a:t>组合检测法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“</a:t>
            </a:r>
            <a:r>
              <a:rPr lang="en-US" altLang="zh-CN" sz="2800" b="1" i="1" dirty="0"/>
              <a:t>k</a:t>
            </a:r>
            <a:r>
              <a:rPr lang="zh-CN" altLang="en-US" sz="2800" b="1" dirty="0">
                <a:latin typeface="+mn-ea"/>
              </a:rPr>
              <a:t>合</a:t>
            </a:r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”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171" y="0"/>
            <a:ext cx="3635896" cy="2947648"/>
          </a:xfrm>
          <a:prstGeom prst="rect">
            <a:avLst/>
          </a:prstGeom>
        </p:spPr>
      </p:pic>
      <p:sp>
        <p:nvSpPr>
          <p:cNvPr id="8" name="副标题 3"/>
          <p:cNvSpPr txBox="1">
            <a:spLocks/>
          </p:cNvSpPr>
          <p:nvPr/>
        </p:nvSpPr>
        <p:spPr>
          <a:xfrm>
            <a:off x="206489" y="3320988"/>
            <a:ext cx="8490250" cy="648072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sz="2800" b="1" kern="0" dirty="0">
                <a:solidFill>
                  <a:srgbClr val="FF0000"/>
                </a:solidFill>
              </a:rPr>
              <a:t>问题：</a:t>
            </a:r>
            <a:r>
              <a:rPr lang="zh-CN" altLang="zh-CN" sz="2800" b="1" kern="0" dirty="0">
                <a:solidFill>
                  <a:schemeClr val="accent2"/>
                </a:solidFill>
              </a:rPr>
              <a:t>组合检测法</a:t>
            </a:r>
            <a:r>
              <a:rPr lang="zh-CN" altLang="en-US" sz="2800" b="1" kern="0" dirty="0">
                <a:solidFill>
                  <a:schemeClr val="accent2"/>
                </a:solidFill>
              </a:rPr>
              <a:t>一定不劣于“逐一检测法”吗？</a:t>
            </a:r>
          </a:p>
        </p:txBody>
      </p:sp>
      <p:sp>
        <p:nvSpPr>
          <p:cNvPr id="9" name="副标题 2"/>
          <p:cNvSpPr txBox="1">
            <a:spLocks/>
          </p:cNvSpPr>
          <p:nvPr/>
        </p:nvSpPr>
        <p:spPr>
          <a:xfrm>
            <a:off x="206488" y="4869160"/>
            <a:ext cx="8830007" cy="1512168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zh-CN" sz="2800" b="1" kern="0" dirty="0">
                <a:solidFill>
                  <a:srgbClr val="FF0000"/>
                </a:solidFill>
              </a:rPr>
              <a:t>假设</a:t>
            </a:r>
            <a:r>
              <a:rPr lang="zh-CN" altLang="en-US" sz="2800" b="1" kern="0" dirty="0">
                <a:solidFill>
                  <a:srgbClr val="FF0000"/>
                </a:solidFill>
              </a:rPr>
              <a:t>：</a:t>
            </a:r>
            <a:r>
              <a:rPr lang="en-US" altLang="zh-CN" sz="2800" b="1" i="1" dirty="0"/>
              <a:t>n</a:t>
            </a:r>
            <a:r>
              <a:rPr lang="zh-CN" altLang="zh-CN" sz="2800" b="1" kern="0" dirty="0"/>
              <a:t>个样本中</a:t>
            </a:r>
            <a:r>
              <a:rPr lang="zh-CN" altLang="en-US" sz="2800" b="1" kern="0" dirty="0"/>
              <a:t>，</a:t>
            </a:r>
            <a:r>
              <a:rPr lang="zh-CN" altLang="en-US" sz="2800" b="1" kern="0" dirty="0">
                <a:solidFill>
                  <a:srgbClr val="FF0000"/>
                </a:solidFill>
              </a:rPr>
              <a:t>已知</a:t>
            </a:r>
            <a:r>
              <a:rPr lang="zh-CN" altLang="zh-CN" sz="2800" b="1" kern="0" dirty="0"/>
              <a:t>有</a:t>
            </a:r>
            <a:r>
              <a:rPr lang="en-US" altLang="zh-CN" sz="2800" b="1" i="1" dirty="0"/>
              <a:t>d</a:t>
            </a:r>
            <a:r>
              <a:rPr lang="zh-CN" altLang="zh-CN" sz="2800" b="1" kern="0" dirty="0"/>
              <a:t>个是阳性的</a:t>
            </a:r>
            <a:r>
              <a:rPr lang="en-US" altLang="zh-CN" sz="2800" b="1" kern="0" dirty="0"/>
              <a:t> (0 </a:t>
            </a:r>
            <a:r>
              <a:rPr lang="en-US" altLang="zh-CN" sz="2800" b="1" i="1" dirty="0"/>
              <a:t>&lt; d &lt; n</a:t>
            </a:r>
            <a:r>
              <a:rPr lang="en-US" altLang="zh-CN" sz="2800" b="1" kern="0" dirty="0"/>
              <a:t>)</a:t>
            </a:r>
          </a:p>
          <a:p>
            <a:pPr algn="l"/>
            <a:r>
              <a:rPr lang="zh-CN" altLang="en-US" sz="2800" b="1" kern="0" dirty="0">
                <a:solidFill>
                  <a:srgbClr val="FF0000"/>
                </a:solidFill>
              </a:rPr>
              <a:t>目标：</a:t>
            </a:r>
            <a:r>
              <a:rPr lang="zh-CN" altLang="en-US" sz="2800" b="1" kern="0" dirty="0"/>
              <a:t>找出所有阳性（或等价地，阴性）样本</a:t>
            </a:r>
            <a:endParaRPr lang="en-US" altLang="zh-CN" sz="2800" b="1" kern="0" dirty="0"/>
          </a:p>
          <a:p>
            <a:pPr algn="l"/>
            <a:r>
              <a:rPr lang="zh-CN" altLang="en-US" sz="2800" b="1" kern="0" dirty="0">
                <a:solidFill>
                  <a:srgbClr val="FF0000"/>
                </a:solidFill>
              </a:rPr>
              <a:t>定义：</a:t>
            </a:r>
            <a:r>
              <a:rPr lang="en-US" altLang="zh-CN" sz="2800" b="1" i="1" dirty="0">
                <a:sym typeface="Microsoft Yahei" panose="020B0503020204020204" pitchFamily="34" charset="-122"/>
              </a:rPr>
              <a:t> M(</a:t>
            </a:r>
            <a:r>
              <a:rPr lang="en-US" altLang="zh-CN" sz="2800" b="1" i="1" dirty="0" err="1">
                <a:sym typeface="Microsoft Yahei" panose="020B0503020204020204" pitchFamily="34" charset="-122"/>
              </a:rPr>
              <a:t>n,d</a:t>
            </a:r>
            <a:r>
              <a:rPr lang="en-US" altLang="zh-CN" sz="2800" b="1" i="1" dirty="0">
                <a:sym typeface="Microsoft Yahei" panose="020B0503020204020204" pitchFamily="34" charset="-122"/>
              </a:rPr>
              <a:t>)</a:t>
            </a:r>
            <a:r>
              <a:rPr lang="zh-CN" altLang="zh-CN" sz="2800" b="1" kern="0" dirty="0"/>
              <a:t>表示</a:t>
            </a:r>
            <a:r>
              <a:rPr lang="zh-CN" altLang="zh-CN" sz="2800" b="1" kern="0" dirty="0">
                <a:solidFill>
                  <a:srgbClr val="FF0000"/>
                </a:solidFill>
              </a:rPr>
              <a:t>最优</a:t>
            </a:r>
            <a:r>
              <a:rPr lang="zh-CN" altLang="zh-CN" sz="2800" b="1" kern="0" dirty="0"/>
              <a:t>检测法</a:t>
            </a:r>
            <a:r>
              <a:rPr lang="zh-CN" altLang="en-US" sz="2800" b="1" kern="0" dirty="0">
                <a:solidFill>
                  <a:srgbClr val="FF0000"/>
                </a:solidFill>
              </a:rPr>
              <a:t>最坏</a:t>
            </a:r>
            <a:r>
              <a:rPr lang="zh-CN" altLang="en-US" sz="2800" b="1" kern="0" dirty="0"/>
              <a:t>情形下</a:t>
            </a:r>
            <a:r>
              <a:rPr lang="zh-CN" altLang="zh-CN" sz="2800" b="1" kern="0" dirty="0"/>
              <a:t>所需</a:t>
            </a:r>
            <a:r>
              <a:rPr lang="zh-CN" altLang="en-US" sz="2800" b="1" kern="0" dirty="0"/>
              <a:t>的</a:t>
            </a:r>
            <a:r>
              <a:rPr lang="zh-CN" altLang="zh-CN" sz="2800" b="1" kern="0" dirty="0"/>
              <a:t>次数</a:t>
            </a:r>
            <a:endParaRPr lang="en-US" altLang="zh-CN" sz="2800" b="1" kern="0" dirty="0"/>
          </a:p>
          <a:p>
            <a:pPr algn="l"/>
            <a:endParaRPr lang="zh-CN" altLang="zh-CN" sz="2800" b="1" kern="0" dirty="0"/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206489" y="4141929"/>
            <a:ext cx="2925351" cy="64807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zh-CN" altLang="en-US" sz="3600" b="1" kern="0" dirty="0">
                <a:solidFill>
                  <a:schemeClr val="accent2"/>
                </a:solidFill>
              </a:rPr>
              <a:t>组合模型</a:t>
            </a:r>
          </a:p>
        </p:txBody>
      </p:sp>
    </p:spTree>
    <p:extLst>
      <p:ext uri="{BB962C8B-B14F-4D97-AF65-F5344CB8AC3E}">
        <p14:creationId xmlns:p14="http://schemas.microsoft.com/office/powerpoint/2010/main" val="273448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1520" y="548680"/>
            <a:ext cx="7776864" cy="678748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accent2"/>
                </a:solidFill>
                <a:latin typeface="+mn-ea"/>
              </a:rPr>
              <a:t>“</a:t>
            </a:r>
            <a:r>
              <a:rPr lang="en-US" altLang="zh-CN" sz="3600" b="1" i="1" dirty="0">
                <a:solidFill>
                  <a:schemeClr val="accent2"/>
                </a:solidFill>
              </a:rPr>
              <a:t>k</a:t>
            </a:r>
            <a:r>
              <a:rPr lang="zh-CN" altLang="en-US" sz="3600" b="1" dirty="0">
                <a:solidFill>
                  <a:schemeClr val="accent2"/>
                </a:solidFill>
                <a:latin typeface="+mn-ea"/>
              </a:rPr>
              <a:t>合</a:t>
            </a:r>
            <a:r>
              <a:rPr lang="en-US" altLang="zh-CN" sz="3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lang="zh-CN" altLang="en-US" sz="3600" b="1" dirty="0">
                <a:solidFill>
                  <a:schemeClr val="accent2"/>
                </a:solidFill>
                <a:latin typeface="+mn-ea"/>
              </a:rPr>
              <a:t>”</a:t>
            </a:r>
            <a:r>
              <a:rPr lang="zh-CN" altLang="en-US" sz="3600" b="1" dirty="0">
                <a:solidFill>
                  <a:schemeClr val="accent2"/>
                </a:solidFill>
              </a:rPr>
              <a:t>组合检测法：最佳“</a:t>
            </a:r>
            <a:r>
              <a:rPr lang="en-US" altLang="zh-CN" sz="3600" b="1" i="1" dirty="0">
                <a:solidFill>
                  <a:schemeClr val="accent2"/>
                </a:solidFill>
              </a:rPr>
              <a:t>k</a:t>
            </a:r>
            <a:r>
              <a:rPr lang="zh-CN" altLang="en-US" sz="3600" b="1" dirty="0">
                <a:solidFill>
                  <a:schemeClr val="accent2"/>
                </a:solidFill>
              </a:rPr>
              <a:t>”</a:t>
            </a:r>
            <a:r>
              <a:rPr lang="en-US" altLang="zh-CN" sz="3600" b="1" dirty="0">
                <a:solidFill>
                  <a:schemeClr val="accent2"/>
                </a:solidFill>
              </a:rPr>
              <a:t>=?</a:t>
            </a:r>
            <a:r>
              <a:rPr lang="zh-CN" altLang="en-US" sz="3600" b="1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251521" y="1340768"/>
            <a:ext cx="3240360" cy="555183"/>
          </a:xfrm>
        </p:spPr>
        <p:txBody>
          <a:bodyPr/>
          <a:lstStyle/>
          <a:p>
            <a:pPr algn="l"/>
            <a:r>
              <a:rPr lang="zh-CN" altLang="en-US" sz="2800" b="1" dirty="0"/>
              <a:t>若</a:t>
            </a:r>
            <a:r>
              <a:rPr lang="en-US" altLang="zh-CN" sz="2800" b="1" i="1" dirty="0"/>
              <a:t>d</a:t>
            </a:r>
            <a:r>
              <a:rPr lang="en-US" altLang="zh-CN" sz="2800" b="1" dirty="0"/>
              <a:t>=1</a:t>
            </a:r>
            <a:r>
              <a:rPr lang="zh-CN" altLang="en-US" sz="2800" b="1" dirty="0"/>
              <a:t>，检测次数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副标题 3"/>
              <p:cNvSpPr txBox="1">
                <a:spLocks/>
              </p:cNvSpPr>
              <p:nvPr/>
            </p:nvSpPr>
            <p:spPr>
              <a:xfrm>
                <a:off x="1629896" y="2400007"/>
                <a:ext cx="6876763" cy="648072"/>
              </a:xfrm>
              <a:prstGeom prst="rect">
                <a:avLst/>
              </a:prstGeom>
            </p:spPr>
            <p:txBody>
              <a:bodyPr/>
              <a:lstStyle>
                <a:lvl1pPr marL="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9144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716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8288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2860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7432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2004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6576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algn="l"/>
                <a:r>
                  <a:rPr lang="zh-CN" altLang="en-US" sz="2800" b="1" kern="0" dirty="0">
                    <a:solidFill>
                      <a:srgbClr val="FF0000"/>
                    </a:solidFill>
                  </a:rPr>
                  <a:t>结论：</a:t>
                </a:r>
                <a14:m>
                  <m:oMath xmlns:m="http://schemas.openxmlformats.org/officeDocument/2006/math">
                    <m:r>
                      <a:rPr lang="en-US" altLang="zh-CN" sz="2800" b="1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800" b="1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800" b="1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1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  <m:r>
                      <a:rPr lang="en-US" altLang="zh-CN" sz="2800" b="1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altLang="zh-CN" sz="2800" b="1" kern="0" dirty="0">
                    <a:solidFill>
                      <a:schemeClr val="accent2"/>
                    </a:solidFill>
                  </a:rPr>
                  <a:t>(</a:t>
                </a:r>
                <a:r>
                  <a:rPr lang="zh-CN" altLang="en-US" sz="2800" b="1" kern="0" dirty="0">
                    <a:solidFill>
                      <a:schemeClr val="accent2"/>
                    </a:solidFill>
                  </a:rPr>
                  <a:t>若非整数，上下取整比较</a:t>
                </a:r>
                <a:r>
                  <a:rPr lang="en-US" altLang="zh-CN" sz="2800" b="1" kern="0" dirty="0">
                    <a:solidFill>
                      <a:schemeClr val="accent2"/>
                    </a:solidFill>
                  </a:rPr>
                  <a:t>)</a:t>
                </a:r>
                <a:endParaRPr lang="zh-CN" altLang="en-US" sz="2800" b="1" kern="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副标题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896" y="2400007"/>
                <a:ext cx="6876763" cy="648072"/>
              </a:xfrm>
              <a:prstGeom prst="rect">
                <a:avLst/>
              </a:prstGeom>
              <a:blipFill>
                <a:blip r:embed="rId2"/>
                <a:stretch>
                  <a:fillRect l="-1773" t="-12264" r="-975" b="-8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副标题 3"/>
              <p:cNvSpPr txBox="1">
                <a:spLocks/>
              </p:cNvSpPr>
              <p:nvPr/>
            </p:nvSpPr>
            <p:spPr>
              <a:xfrm>
                <a:off x="251520" y="4099263"/>
                <a:ext cx="8568952" cy="691329"/>
              </a:xfrm>
              <a:prstGeom prst="rect">
                <a:avLst/>
              </a:prstGeom>
            </p:spPr>
            <p:txBody>
              <a:bodyPr/>
              <a:lstStyle>
                <a:lvl1pPr marL="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9144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716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8288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2860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7432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2004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6576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algn="l"/>
                <a:r>
                  <a:rPr lang="zh-CN" altLang="en-US" sz="2800" b="1" kern="0" dirty="0"/>
                  <a:t>若</a:t>
                </a:r>
                <a:r>
                  <a:rPr lang="en-US" altLang="zh-CN" sz="2800" b="1" i="1" kern="0" dirty="0"/>
                  <a:t>d</a:t>
                </a:r>
                <a:r>
                  <a:rPr lang="en-US" altLang="zh-CN" sz="2800" b="1" kern="0" dirty="0">
                    <a:sym typeface="Symbol" panose="05050102010706020507" pitchFamily="18" charset="2"/>
                  </a:rPr>
                  <a:t></a:t>
                </a:r>
                <a:r>
                  <a:rPr lang="en-US" altLang="zh-CN" sz="2800" b="1" kern="0" dirty="0"/>
                  <a:t>1</a:t>
                </a:r>
                <a:r>
                  <a:rPr lang="zh-CN" altLang="en-US" sz="2800" b="1" kern="0" dirty="0"/>
                  <a:t>，假设</a:t>
                </a:r>
                <a14:m>
                  <m:oMath xmlns:m="http://schemas.openxmlformats.org/officeDocument/2006/math">
                    <m:r>
                      <a:rPr lang="en-US" altLang="zh-CN" sz="2800" b="1" i="1" ker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800" b="1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sz="2800" b="1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kern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kern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kern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800" b="1" kern="0" dirty="0"/>
                  <a:t>，最坏情形下，检测次数</a:t>
                </a:r>
              </a:p>
            </p:txBody>
          </p:sp>
        </mc:Choice>
        <mc:Fallback xmlns="">
          <p:sp>
            <p:nvSpPr>
              <p:cNvPr id="11" name="副标题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099263"/>
                <a:ext cx="8568952" cy="691329"/>
              </a:xfrm>
              <a:prstGeom prst="rect">
                <a:avLst/>
              </a:prstGeom>
              <a:blipFill>
                <a:blip r:embed="rId3"/>
                <a:stretch>
                  <a:fillRect l="-1422" t="-11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副标题 3"/>
              <p:cNvSpPr txBox="1">
                <a:spLocks/>
              </p:cNvSpPr>
              <p:nvPr/>
            </p:nvSpPr>
            <p:spPr>
              <a:xfrm>
                <a:off x="1691680" y="5661248"/>
                <a:ext cx="7236803" cy="648072"/>
              </a:xfrm>
              <a:prstGeom prst="rect">
                <a:avLst/>
              </a:prstGeom>
            </p:spPr>
            <p:txBody>
              <a:bodyPr/>
              <a:lstStyle>
                <a:lvl1pPr marL="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9144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716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828800" indent="0" algn="ctr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2860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7432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2004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657600" indent="0" algn="ctr" rtl="0" fontAlgn="base">
                  <a:spcBef>
                    <a:spcPct val="20000"/>
                  </a:spcBef>
                  <a:spcAft>
                    <a:spcPct val="0"/>
                  </a:spcAft>
                  <a:buNone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algn="l"/>
                <a:r>
                  <a:rPr lang="zh-CN" altLang="en-US" sz="2800" b="1" kern="0" dirty="0">
                    <a:solidFill>
                      <a:srgbClr val="FF0000"/>
                    </a:solidFill>
                  </a:rPr>
                  <a:t>结论：</a:t>
                </a:r>
                <a14:m>
                  <m:oMath xmlns:m="http://schemas.openxmlformats.org/officeDocument/2006/math">
                    <m:r>
                      <a:rPr lang="en-US" altLang="zh-CN" sz="2800" b="1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800" b="1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800" b="1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1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800" b="1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rad>
                    <m:r>
                      <a:rPr lang="en-US" altLang="zh-CN" sz="2800" b="1" i="1" kern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altLang="zh-CN" sz="2800" b="1" kern="0" dirty="0">
                    <a:solidFill>
                      <a:schemeClr val="accent2"/>
                    </a:solidFill>
                  </a:rPr>
                  <a:t>(</a:t>
                </a:r>
                <a:r>
                  <a:rPr lang="zh-CN" altLang="en-US" sz="2800" b="1" kern="0" dirty="0">
                    <a:solidFill>
                      <a:schemeClr val="accent2"/>
                    </a:solidFill>
                  </a:rPr>
                  <a:t>若非整数，上下取整比较</a:t>
                </a:r>
                <a:r>
                  <a:rPr lang="en-US" altLang="zh-CN" sz="2800" b="1" kern="0" dirty="0">
                    <a:solidFill>
                      <a:schemeClr val="accent2"/>
                    </a:solidFill>
                  </a:rPr>
                  <a:t>)</a:t>
                </a:r>
                <a:endParaRPr lang="zh-CN" altLang="en-US" sz="2800" b="1" kern="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2" name="副标题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5661248"/>
                <a:ext cx="7236803" cy="648072"/>
              </a:xfrm>
              <a:prstGeom prst="rect">
                <a:avLst/>
              </a:prstGeom>
              <a:blipFill>
                <a:blip r:embed="rId4"/>
                <a:stretch>
                  <a:fillRect l="-1769" t="-3774" r="-1685" b="-169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3131840" y="4802038"/>
                <a:ext cx="1656672" cy="859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800" b="1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𝒅𝒌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802038"/>
                <a:ext cx="1656672" cy="8592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582817" y="4813483"/>
                <a:ext cx="1753622" cy="836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sz="2800" b="1" i="1" ker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ker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kern="0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𝒅𝒌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817" y="4813483"/>
                <a:ext cx="1753622" cy="8363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6230002" y="4907636"/>
                <a:ext cx="1557414" cy="582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altLang="zh-CN" sz="2800" b="1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b="1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𝒏𝒅</m:t>
                          </m:r>
                        </m:e>
                      </m:ra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002" y="4907636"/>
                <a:ext cx="1557414" cy="5829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3131840" y="1448592"/>
                <a:ext cx="1425839" cy="859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n-US" altLang="zh-CN" sz="2800" b="1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1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r>
                                <a:rPr lang="en-US" altLang="zh-CN" sz="2800" b="1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den>
                          </m:f>
                        </m:e>
                      </m:d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448592"/>
                <a:ext cx="1425839" cy="8592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4582817" y="1460037"/>
                <a:ext cx="1522789" cy="836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sz="2800" b="1" i="1" ker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1" i="1" ker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altLang="zh-CN" sz="2800" b="1" i="1" kern="0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817" y="1460037"/>
                <a:ext cx="1522789" cy="8363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6130744" y="1655952"/>
                <a:ext cx="1326582" cy="531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800" b="1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altLang="zh-CN" sz="2800" b="1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b="1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rad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744" y="1655952"/>
                <a:ext cx="1326582" cy="5310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副标题 3"/>
          <p:cNvSpPr txBox="1">
            <a:spLocks/>
          </p:cNvSpPr>
          <p:nvPr/>
        </p:nvSpPr>
        <p:spPr>
          <a:xfrm>
            <a:off x="1629896" y="3167011"/>
            <a:ext cx="4238247" cy="751723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sz="2800" b="1" kern="0" dirty="0">
                <a:solidFill>
                  <a:schemeClr val="accent2"/>
                </a:solidFill>
              </a:rPr>
              <a:t>有更好的组合检测法吗？</a:t>
            </a:r>
          </a:p>
        </p:txBody>
      </p:sp>
      <p:sp>
        <p:nvSpPr>
          <p:cNvPr id="24" name="副标题 3"/>
          <p:cNvSpPr txBox="1">
            <a:spLocks/>
          </p:cNvSpPr>
          <p:nvPr/>
        </p:nvSpPr>
        <p:spPr>
          <a:xfrm>
            <a:off x="5636912" y="3140968"/>
            <a:ext cx="1887416" cy="670963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sz="2800" b="1" kern="0" dirty="0">
                <a:solidFill>
                  <a:srgbClr val="FF0000"/>
                </a:solidFill>
              </a:rPr>
              <a:t>二分法？</a:t>
            </a:r>
          </a:p>
        </p:txBody>
      </p:sp>
      <p:sp>
        <p:nvSpPr>
          <p:cNvPr id="25" name="副标题 3"/>
          <p:cNvSpPr txBox="1">
            <a:spLocks/>
          </p:cNvSpPr>
          <p:nvPr/>
        </p:nvSpPr>
        <p:spPr>
          <a:xfrm>
            <a:off x="7462893" y="3068960"/>
            <a:ext cx="1357579" cy="670963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sz="2800" b="1" kern="0" dirty="0">
                <a:solidFill>
                  <a:srgbClr val="FF0000"/>
                </a:solidFill>
              </a:rPr>
              <a:t>log</a:t>
            </a:r>
            <a:r>
              <a:rPr lang="en-US" altLang="zh-CN" sz="2800" b="1" kern="0" baseline="-25000" dirty="0">
                <a:solidFill>
                  <a:srgbClr val="FF0000"/>
                </a:solidFill>
              </a:rPr>
              <a:t>2</a:t>
            </a:r>
            <a:r>
              <a:rPr lang="en-US" altLang="zh-CN" sz="2800" b="1" kern="0" dirty="0">
                <a:solidFill>
                  <a:srgbClr val="FF0000"/>
                </a:solidFill>
              </a:rPr>
              <a:t>(</a:t>
            </a:r>
            <a:r>
              <a:rPr lang="en-US" altLang="zh-CN" sz="2800" b="1" i="1" kern="0" dirty="0">
                <a:solidFill>
                  <a:srgbClr val="FF0000"/>
                </a:solidFill>
              </a:rPr>
              <a:t>n</a:t>
            </a:r>
            <a:r>
              <a:rPr lang="en-US" altLang="zh-CN" sz="2800" b="1" kern="0" dirty="0">
                <a:solidFill>
                  <a:srgbClr val="FF0000"/>
                </a:solidFill>
              </a:rPr>
              <a:t>)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6" name="对话气泡: 椭圆形 5">
            <a:extLst>
              <a:ext uri="{FF2B5EF4-FFF2-40B4-BE49-F238E27FC236}">
                <a16:creationId xmlns:a16="http://schemas.microsoft.com/office/drawing/2014/main" id="{6A33DE5F-9912-4D1F-9470-0A0C82566CC9}"/>
              </a:ext>
            </a:extLst>
          </p:cNvPr>
          <p:cNvSpPr/>
          <p:nvPr/>
        </p:nvSpPr>
        <p:spPr bwMode="auto">
          <a:xfrm>
            <a:off x="7570905" y="908720"/>
            <a:ext cx="1357578" cy="1033902"/>
          </a:xfrm>
          <a:prstGeom prst="wedgeEllipseCallout">
            <a:avLst>
              <a:gd name="adj1" fmla="val -163519"/>
              <a:gd name="adj2" fmla="val 3285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b="1" i="1" dirty="0">
                <a:solidFill>
                  <a:srgbClr val="FF0000"/>
                </a:solidFill>
                <a:ea typeface="宋体" pitchFamily="2" charset="-122"/>
              </a:rPr>
              <a:t> k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-1?</a:t>
            </a:r>
          </a:p>
          <a:p>
            <a:r>
              <a:rPr lang="en-US" altLang="zh-CN" b="1" i="1" dirty="0">
                <a:solidFill>
                  <a:srgbClr val="FF0000"/>
                </a:solidFill>
              </a:rPr>
              <a:t>k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b="1" i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kumimoji="1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对话气泡: 椭圆形 21">
            <a:extLst>
              <a:ext uri="{FF2B5EF4-FFF2-40B4-BE49-F238E27FC236}">
                <a16:creationId xmlns:a16="http://schemas.microsoft.com/office/drawing/2014/main" id="{5CD0E22F-C934-4C92-B052-60330A965C88}"/>
              </a:ext>
            </a:extLst>
          </p:cNvPr>
          <p:cNvSpPr/>
          <p:nvPr/>
        </p:nvSpPr>
        <p:spPr bwMode="auto">
          <a:xfrm>
            <a:off x="7787416" y="4220658"/>
            <a:ext cx="1249080" cy="1005263"/>
          </a:xfrm>
          <a:prstGeom prst="wedgeEllipseCallout">
            <a:avLst>
              <a:gd name="adj1" fmla="val -163519"/>
              <a:gd name="adj2" fmla="val 3285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b="1" i="1" dirty="0">
                <a:solidFill>
                  <a:srgbClr val="FF0000"/>
                </a:solidFill>
                <a:ea typeface="宋体" pitchFamily="2" charset="-122"/>
              </a:rPr>
              <a:t>  k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-1?</a:t>
            </a:r>
          </a:p>
          <a:p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k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b="1" i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kumimoji="1" lang="en-US" altLang="zh-CN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396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  <p:bldP spid="11" grpId="0" build="p"/>
      <p:bldP spid="12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6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39552" y="635000"/>
            <a:ext cx="8102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endParaRPr lang="en-US" altLang="zh-CN" sz="2800" b="1" kern="0" dirty="0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65895" y="342108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kern="0" dirty="0">
                <a:latin typeface="+mj-ea"/>
                <a:ea typeface="+mj-ea"/>
              </a:rPr>
              <a:t>逐一检测法需要的检测次数最多为</a:t>
            </a:r>
            <a:r>
              <a:rPr lang="en-US" altLang="zh-CN" sz="2800" b="1" i="1" kern="0" dirty="0">
                <a:latin typeface="+mn-lt"/>
                <a:ea typeface="+mj-ea"/>
              </a:rPr>
              <a:t>n</a:t>
            </a:r>
            <a:r>
              <a:rPr lang="en-US" altLang="zh-CN" sz="2800" b="1" kern="0" dirty="0">
                <a:latin typeface="+mn-lt"/>
                <a:ea typeface="+mj-ea"/>
              </a:rPr>
              <a:t>-1</a:t>
            </a:r>
            <a:endParaRPr lang="zh-CN" altLang="en-US" sz="2800" b="1" dirty="0">
              <a:latin typeface="+mn-lt"/>
              <a:ea typeface="+mj-ea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5894" y="4098027"/>
            <a:ext cx="799859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当</a:t>
            </a:r>
            <a:r>
              <a:rPr lang="en-US" altLang="zh-CN" sz="2800" b="1" i="1" dirty="0">
                <a:latin typeface="+mn-lt"/>
                <a:ea typeface="+mj-ea"/>
                <a:sym typeface="Microsoft Yahei" panose="020B0503020204020204" pitchFamily="34" charset="-122"/>
              </a:rPr>
              <a:t>d</a:t>
            </a:r>
            <a:r>
              <a:rPr lang="en-US" altLang="zh-CN" sz="2800" b="1" dirty="0">
                <a:latin typeface="+mj-ea"/>
                <a:ea typeface="+mj-ea"/>
                <a:sym typeface="Microsoft Yahei" panose="020B0503020204020204" pitchFamily="34" charset="-122"/>
              </a:rPr>
              <a:t>=</a:t>
            </a:r>
            <a:r>
              <a:rPr lang="en-US" altLang="zh-CN" sz="2800" b="1" dirty="0">
                <a:latin typeface="+mn-lt"/>
                <a:ea typeface="+mj-ea"/>
                <a:sym typeface="Microsoft Yahei" panose="020B0503020204020204" pitchFamily="34" charset="-122"/>
              </a:rPr>
              <a:t>1</a:t>
            </a:r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时，</a:t>
            </a:r>
            <a:r>
              <a:rPr lang="zh-CN" altLang="zh-CN" sz="2800" b="1" kern="0" dirty="0">
                <a:latin typeface="+mj-ea"/>
                <a:ea typeface="+mj-ea"/>
              </a:rPr>
              <a:t>组合检测法</a:t>
            </a:r>
            <a:r>
              <a:rPr lang="en-US" altLang="zh-CN" sz="2800" b="1" kern="0" dirty="0">
                <a:latin typeface="+mj-ea"/>
                <a:ea typeface="+mj-ea"/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en-US" altLang="zh-CN" sz="2800" b="1" kern="0" dirty="0">
                <a:latin typeface="+mj-ea"/>
                <a:ea typeface="+mj-ea"/>
              </a:rPr>
              <a:t>)</a:t>
            </a:r>
            <a:r>
              <a:rPr lang="zh-CN" altLang="en-US" sz="2800" b="1" kern="0" dirty="0">
                <a:latin typeface="+mj-ea"/>
                <a:ea typeface="+mj-ea"/>
              </a:rPr>
              <a:t>不劣于逐一检测法</a:t>
            </a:r>
            <a:endParaRPr lang="zh-CN" altLang="en-US" sz="2800" b="1" dirty="0">
              <a:latin typeface="+mj-ea"/>
              <a:ea typeface="+mj-ea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965894" y="4783827"/>
            <a:ext cx="792658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当</a:t>
            </a:r>
            <a:r>
              <a:rPr lang="en-US" altLang="zh-CN" sz="2800" b="1" i="1" dirty="0">
                <a:latin typeface="+mn-lt"/>
                <a:ea typeface="+mj-ea"/>
                <a:sym typeface="Microsoft Yahei" panose="020B0503020204020204" pitchFamily="34" charset="-122"/>
              </a:rPr>
              <a:t>d=n-</a:t>
            </a:r>
            <a:r>
              <a:rPr lang="en-US" altLang="zh-CN" sz="2800" b="1" dirty="0">
                <a:latin typeface="+mn-lt"/>
                <a:ea typeface="+mj-ea"/>
                <a:sym typeface="Microsoft Yahei" panose="020B0503020204020204" pitchFamily="34" charset="-122"/>
              </a:rPr>
              <a:t>1</a:t>
            </a:r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时，</a:t>
            </a:r>
            <a:r>
              <a:rPr lang="zh-CN" altLang="zh-CN" sz="2800" b="1" kern="0" dirty="0">
                <a:latin typeface="+mj-ea"/>
                <a:ea typeface="+mj-ea"/>
              </a:rPr>
              <a:t>组合检测法</a:t>
            </a:r>
            <a:r>
              <a:rPr lang="en-US" altLang="zh-CN" sz="2800" b="1" kern="0" dirty="0">
                <a:latin typeface="+mj-ea"/>
                <a:ea typeface="+mj-ea"/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en-US" altLang="zh-CN" sz="2800" b="1" kern="0" dirty="0">
                <a:latin typeface="+mj-ea"/>
                <a:ea typeface="+mj-ea"/>
              </a:rPr>
              <a:t>)</a:t>
            </a:r>
            <a:r>
              <a:rPr lang="zh-CN" altLang="en-US" sz="2800" b="1" kern="0" dirty="0">
                <a:latin typeface="+mj-ea"/>
                <a:ea typeface="+mj-ea"/>
              </a:rPr>
              <a:t>不劣于逐一检测法</a:t>
            </a:r>
            <a:endParaRPr lang="zh-CN" altLang="en-US" sz="2800" b="1" dirty="0">
              <a:latin typeface="+mj-ea"/>
              <a:ea typeface="+mj-ea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51520" y="28503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2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51520" y="35361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2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51520" y="42219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2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51520" y="49077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2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1000930" y="5469626"/>
            <a:ext cx="6596596" cy="839693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当</a:t>
            </a:r>
            <a:r>
              <a:rPr lang="en-US" altLang="zh-CN" sz="2800" b="1" i="1" dirty="0">
                <a:latin typeface="+mn-lt"/>
                <a:ea typeface="+mj-ea"/>
                <a:sym typeface="Microsoft Yahei" panose="020B0503020204020204" pitchFamily="34" charset="-122"/>
              </a:rPr>
              <a:t>d=n-</a:t>
            </a:r>
            <a:r>
              <a:rPr lang="en-US" altLang="zh-CN" sz="2800" b="1" dirty="0">
                <a:latin typeface="+mn-lt"/>
                <a:ea typeface="+mj-ea"/>
                <a:sym typeface="Microsoft Yahei" panose="020B0503020204020204" pitchFamily="34" charset="-122"/>
              </a:rPr>
              <a:t>1</a:t>
            </a:r>
            <a:r>
              <a:rPr lang="zh-CN" altLang="en-US" sz="2800" b="1" dirty="0">
                <a:latin typeface="+mj-ea"/>
                <a:ea typeface="+mj-ea"/>
                <a:sym typeface="Microsoft Yahei" panose="020B0503020204020204" pitchFamily="34" charset="-122"/>
              </a:rPr>
              <a:t>时，</a:t>
            </a:r>
            <a:r>
              <a:rPr lang="en-US" altLang="zh-CN" sz="2800" b="1" i="1" dirty="0"/>
              <a:t>M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d</a:t>
            </a:r>
            <a:r>
              <a:rPr lang="en-US" altLang="zh-CN" sz="2800" b="1" dirty="0"/>
              <a:t>) = 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-1</a:t>
            </a:r>
            <a:endParaRPr lang="zh-CN" altLang="zh-CN" sz="2800" b="1" kern="0" dirty="0"/>
          </a:p>
        </p:txBody>
      </p:sp>
      <p:sp>
        <p:nvSpPr>
          <p:cNvPr id="2" name="文本框 1"/>
          <p:cNvSpPr txBox="1"/>
          <p:nvPr>
            <p:custDataLst>
              <p:tags r:id="rId12"/>
            </p:custDataLst>
          </p:nvPr>
        </p:nvSpPr>
        <p:spPr>
          <a:xfrm>
            <a:off x="539552" y="683625"/>
            <a:ext cx="8280919" cy="180167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/>
              <a:t>n </a:t>
            </a:r>
            <a:r>
              <a:rPr lang="zh-CN" altLang="zh-CN" sz="2800" b="1" kern="0" dirty="0"/>
              <a:t>个样本</a:t>
            </a:r>
            <a:r>
              <a:rPr lang="zh-CN" altLang="en-US" sz="2800" b="1" kern="0" dirty="0"/>
              <a:t>（</a:t>
            </a:r>
            <a:r>
              <a:rPr lang="en-US" altLang="zh-CN" sz="2800" b="1" i="1" dirty="0"/>
              <a:t> </a:t>
            </a:r>
            <a:r>
              <a:rPr lang="zh-CN" altLang="en-US" sz="2800" b="1" dirty="0"/>
              <a:t>不考虑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很小的情况</a:t>
            </a:r>
            <a:r>
              <a:rPr lang="en-US" altLang="zh-CN" sz="2800" b="1" dirty="0"/>
              <a:t> </a:t>
            </a:r>
            <a:r>
              <a:rPr lang="zh-CN" altLang="en-US" sz="2800" b="1" kern="0" dirty="0"/>
              <a:t>）；</a:t>
            </a:r>
            <a:endParaRPr lang="en-US" altLang="zh-CN" sz="2800" b="1" kern="0" dirty="0"/>
          </a:p>
          <a:p>
            <a:r>
              <a:rPr lang="zh-CN" altLang="en-US" sz="2800" b="1" kern="0" dirty="0">
                <a:solidFill>
                  <a:srgbClr val="FF0000"/>
                </a:solidFill>
              </a:rPr>
              <a:t>已知</a:t>
            </a:r>
            <a:r>
              <a:rPr lang="zh-CN" altLang="zh-CN" sz="2800" b="1" kern="0" dirty="0"/>
              <a:t>有</a:t>
            </a:r>
            <a:r>
              <a:rPr lang="en-US" altLang="zh-CN" sz="2800" b="1" i="1" dirty="0">
                <a:sym typeface="Microsoft Yahei" panose="020B0503020204020204" pitchFamily="34" charset="-122"/>
              </a:rPr>
              <a:t>d</a:t>
            </a:r>
            <a:r>
              <a:rPr lang="zh-CN" altLang="zh-CN" sz="2800" b="1" kern="0" dirty="0"/>
              <a:t>个是阳性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800" b="1" kern="0" dirty="0"/>
              <a:t>0 &lt; </a:t>
            </a:r>
            <a:r>
              <a:rPr lang="en-US" altLang="zh-CN" sz="2800" b="1" i="1" dirty="0">
                <a:sym typeface="Microsoft Yahei" panose="020B0503020204020204" pitchFamily="34" charset="-122"/>
              </a:rPr>
              <a:t>d</a:t>
            </a:r>
            <a:r>
              <a:rPr lang="en-US" altLang="zh-CN" sz="2800" b="1" kern="0" dirty="0"/>
              <a:t> &lt; </a:t>
            </a:r>
            <a:r>
              <a:rPr lang="en-US" altLang="zh-CN" sz="2800" b="1" i="1" dirty="0"/>
              <a:t>n 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）；</a:t>
            </a:r>
          </a:p>
          <a:p>
            <a:r>
              <a:rPr lang="zh-CN" altLang="en-US" sz="2800" b="1" kern="0" dirty="0">
                <a:sym typeface="Microsoft Yahei" panose="020B0503020204020204" pitchFamily="34" charset="-122"/>
              </a:rPr>
              <a:t>考虑上述组合模型（以</a:t>
            </a:r>
            <a:r>
              <a:rPr lang="zh-CN" altLang="en-US" sz="2800" b="1" kern="0" dirty="0">
                <a:solidFill>
                  <a:srgbClr val="FF0000"/>
                </a:solidFill>
              </a:rPr>
              <a:t>最坏</a:t>
            </a:r>
            <a:r>
              <a:rPr lang="zh-CN" altLang="en-US" sz="2800" b="1" kern="0" dirty="0"/>
              <a:t>情形下</a:t>
            </a:r>
            <a:r>
              <a:rPr lang="zh-CN" altLang="zh-CN" sz="2800" b="1" kern="0" dirty="0"/>
              <a:t>所需次数</a:t>
            </a:r>
            <a:r>
              <a:rPr lang="zh-CN" altLang="en-US" sz="2800" b="1" kern="0" dirty="0"/>
              <a:t>多少为判断检测方法优劣的目标）：</a:t>
            </a:r>
            <a:endParaRPr lang="en-US" altLang="zh-CN" sz="2800" b="1" kern="0" dirty="0"/>
          </a:p>
        </p:txBody>
      </p:sp>
      <p:sp>
        <p:nvSpPr>
          <p:cNvPr id="3" name="矩形 2"/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251520" y="55935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1" lang="zh-CN" altLang="en-US" sz="2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1000930" y="27860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>
                <a:sym typeface="Microsoft Yahei" panose="020B0503020204020204" pitchFamily="34" charset="-122"/>
              </a:rPr>
              <a:t>M(</a:t>
            </a:r>
            <a:r>
              <a:rPr lang="en-US" altLang="zh-CN" sz="2800" b="1" i="1" dirty="0" err="1">
                <a:sym typeface="Microsoft Yahei" panose="020B0503020204020204" pitchFamily="34" charset="-122"/>
              </a:rPr>
              <a:t>n,d</a:t>
            </a:r>
            <a:r>
              <a:rPr lang="en-US" altLang="zh-CN" sz="2800" b="1" i="1" dirty="0">
                <a:sym typeface="Microsoft Yahei" panose="020B0503020204020204" pitchFamily="34" charset="-122"/>
              </a:rPr>
              <a:t>) </a:t>
            </a:r>
            <a:r>
              <a:rPr lang="en-US" altLang="zh-CN" sz="2800" b="1" dirty="0">
                <a:sym typeface="Symbol" panose="05050102010706020507" pitchFamily="18" charset="2"/>
              </a:rPr>
              <a:t></a:t>
            </a:r>
            <a:r>
              <a:rPr lang="en-US" altLang="zh-CN" sz="2800" b="1" dirty="0">
                <a:sym typeface="Microsoft Yahei" panose="020B0503020204020204" pitchFamily="34" charset="-122"/>
              </a:rPr>
              <a:t> </a:t>
            </a:r>
            <a:r>
              <a:rPr lang="en-US" altLang="zh-CN" sz="2800" b="1" i="1" dirty="0">
                <a:sym typeface="Microsoft Yahei" panose="020B0503020204020204" pitchFamily="34" charset="-122"/>
              </a:rPr>
              <a:t>n</a:t>
            </a:r>
            <a:r>
              <a:rPr lang="en-US" altLang="zh-CN" sz="2800" b="1" kern="0" dirty="0">
                <a:latin typeface="+mj-ea"/>
                <a:ea typeface="+mj-ea"/>
                <a:sym typeface="Microsoft Yahei" panose="020B0503020204020204" pitchFamily="34" charset="-122"/>
              </a:rPr>
              <a:t>-</a:t>
            </a:r>
            <a:r>
              <a:rPr lang="en-US" altLang="zh-CN" sz="2800" b="1" kern="0" dirty="0">
                <a:latin typeface="+mn-lt"/>
                <a:ea typeface="+mj-ea"/>
                <a:sym typeface="Microsoft Yahei" panose="020B0503020204020204" pitchFamily="34" charset="-122"/>
              </a:rPr>
              <a:t>1</a:t>
            </a:r>
            <a:endParaRPr lang="zh-CN" altLang="en-US" sz="2800" b="1" dirty="0">
              <a:latin typeface="+mn-lt"/>
              <a:ea typeface="+mj-ea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2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1142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476672"/>
            <a:ext cx="8928992" cy="648072"/>
          </a:xfrm>
        </p:spPr>
        <p:txBody>
          <a:bodyPr/>
          <a:lstStyle/>
          <a:p>
            <a:r>
              <a:rPr lang="zh-CN" altLang="zh-CN" sz="3600" b="1" dirty="0">
                <a:solidFill>
                  <a:schemeClr val="accent2"/>
                </a:solidFill>
              </a:rPr>
              <a:t>组合模型：</a:t>
            </a:r>
            <a:r>
              <a:rPr lang="zh-CN" altLang="en-US" sz="3600" b="1" dirty="0">
                <a:solidFill>
                  <a:schemeClr val="accent2"/>
                </a:solidFill>
              </a:rPr>
              <a:t>部分结论</a:t>
            </a: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215516" y="1412776"/>
            <a:ext cx="6588732" cy="1296144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sz="2800" b="1" kern="0" dirty="0">
                <a:solidFill>
                  <a:schemeClr val="accent2"/>
                </a:solidFill>
              </a:rPr>
              <a:t>F. K. Hwang</a:t>
            </a:r>
            <a:r>
              <a:rPr lang="zh-CN" altLang="en-US" sz="2800" b="1" kern="0" dirty="0">
                <a:solidFill>
                  <a:schemeClr val="accent2"/>
                </a:solidFill>
              </a:rPr>
              <a:t> </a:t>
            </a:r>
            <a:r>
              <a:rPr lang="en-US" altLang="zh-CN" sz="2800" b="1" kern="0" dirty="0">
                <a:solidFill>
                  <a:schemeClr val="accent2"/>
                </a:solidFill>
              </a:rPr>
              <a:t>(</a:t>
            </a:r>
            <a:r>
              <a:rPr lang="zh-CN" altLang="en-US" sz="2800" b="1" kern="0" dirty="0">
                <a:solidFill>
                  <a:schemeClr val="accent2"/>
                </a:solidFill>
              </a:rPr>
              <a:t>黄光明</a:t>
            </a:r>
            <a:r>
              <a:rPr lang="en-US" altLang="zh-CN" sz="2800" b="1" kern="0" dirty="0">
                <a:solidFill>
                  <a:schemeClr val="accent2"/>
                </a:solidFill>
              </a:rPr>
              <a:t>), 1971</a:t>
            </a:r>
            <a:r>
              <a:rPr lang="zh-CN" altLang="en-US" sz="2800" b="1" kern="0" dirty="0">
                <a:solidFill>
                  <a:schemeClr val="accent2"/>
                </a:solidFill>
              </a:rPr>
              <a:t>：</a:t>
            </a:r>
            <a:endParaRPr lang="en-US" altLang="zh-CN" sz="2800" b="1" kern="0" dirty="0">
              <a:solidFill>
                <a:schemeClr val="accent2"/>
              </a:solidFill>
            </a:endParaRPr>
          </a:p>
          <a:p>
            <a:pPr algn="l"/>
            <a:r>
              <a:rPr lang="en-US" altLang="zh-CN" sz="2800" b="1" kern="0" dirty="0">
                <a:solidFill>
                  <a:schemeClr val="accent2"/>
                </a:solidFill>
              </a:rPr>
              <a:t>	</a:t>
            </a:r>
            <a:r>
              <a:rPr lang="zh-CN" altLang="zh-CN" sz="2800" b="1" dirty="0"/>
              <a:t>当</a:t>
            </a:r>
            <a:r>
              <a:rPr lang="en-US" altLang="zh-CN" sz="2800" b="1" dirty="0"/>
              <a:t>2</a:t>
            </a:r>
            <a:r>
              <a:rPr lang="en-US" altLang="zh-CN" sz="2800" b="1" i="1" dirty="0"/>
              <a:t>d</a:t>
            </a:r>
            <a:r>
              <a:rPr lang="en-US" altLang="zh-CN" sz="2800" b="1" dirty="0"/>
              <a:t>+1 ≥ </a:t>
            </a:r>
            <a:r>
              <a:rPr lang="en-US" altLang="zh-CN" sz="2800" b="1" i="1" dirty="0"/>
              <a:t>n</a:t>
            </a:r>
            <a:r>
              <a:rPr lang="zh-CN" altLang="zh-CN" sz="2800" b="1" dirty="0"/>
              <a:t>时，</a:t>
            </a:r>
            <a:r>
              <a:rPr lang="en-US" altLang="zh-CN" sz="2800" b="1" i="1" dirty="0"/>
              <a:t>M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d</a:t>
            </a:r>
            <a:r>
              <a:rPr lang="en-US" altLang="zh-CN" sz="2800" b="1" dirty="0"/>
              <a:t>) = 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-1</a:t>
            </a:r>
            <a:endParaRPr lang="zh-CN" altLang="zh-CN" sz="2800" b="1" kern="0" dirty="0"/>
          </a:p>
        </p:txBody>
      </p:sp>
      <p:sp>
        <p:nvSpPr>
          <p:cNvPr id="6" name="副标题 2"/>
          <p:cNvSpPr txBox="1">
            <a:spLocks/>
          </p:cNvSpPr>
          <p:nvPr/>
        </p:nvSpPr>
        <p:spPr>
          <a:xfrm>
            <a:off x="189147" y="2708920"/>
            <a:ext cx="6399077" cy="1152128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sz="2800" b="1" kern="0" dirty="0">
                <a:solidFill>
                  <a:schemeClr val="accent2"/>
                </a:solidFill>
              </a:rPr>
              <a:t>Hu, Hwang, Wang</a:t>
            </a:r>
            <a:r>
              <a:rPr lang="zh-CN" altLang="en-US" sz="2800" b="1" kern="0" dirty="0">
                <a:solidFill>
                  <a:schemeClr val="accent2"/>
                </a:solidFill>
              </a:rPr>
              <a:t>，</a:t>
            </a:r>
            <a:r>
              <a:rPr lang="en-US" altLang="zh-CN" sz="2800" b="1" kern="0" dirty="0">
                <a:solidFill>
                  <a:schemeClr val="accent2"/>
                </a:solidFill>
              </a:rPr>
              <a:t>1981</a:t>
            </a:r>
            <a:r>
              <a:rPr lang="zh-CN" altLang="en-US" sz="2800" b="1" kern="0" dirty="0">
                <a:solidFill>
                  <a:schemeClr val="accent2"/>
                </a:solidFill>
              </a:rPr>
              <a:t>：</a:t>
            </a:r>
            <a:endParaRPr lang="en-US" altLang="zh-CN" sz="2800" b="1" kern="0" dirty="0">
              <a:solidFill>
                <a:schemeClr val="accent2"/>
              </a:solidFill>
            </a:endParaRPr>
          </a:p>
          <a:p>
            <a:pPr algn="l"/>
            <a:r>
              <a:rPr lang="en-US" altLang="zh-CN" sz="2800" b="1" dirty="0"/>
              <a:t>	</a:t>
            </a:r>
            <a:r>
              <a:rPr lang="zh-CN" altLang="zh-CN" sz="2800" b="1" dirty="0"/>
              <a:t>当</a:t>
            </a:r>
            <a:r>
              <a:rPr lang="en-US" altLang="zh-CN" sz="2800" b="1" dirty="0"/>
              <a:t>5</a:t>
            </a:r>
            <a:r>
              <a:rPr lang="en-US" altLang="zh-CN" sz="2800" b="1" i="1" dirty="0"/>
              <a:t>d</a:t>
            </a:r>
            <a:r>
              <a:rPr lang="en-US" altLang="zh-CN" sz="2800" b="1" dirty="0"/>
              <a:t>+1 ≥ 2</a:t>
            </a:r>
            <a:r>
              <a:rPr lang="en-US" altLang="zh-CN" sz="2800" b="1" i="1" dirty="0"/>
              <a:t>n</a:t>
            </a:r>
            <a:r>
              <a:rPr lang="zh-CN" altLang="zh-CN" sz="2800" b="1" dirty="0"/>
              <a:t>时，</a:t>
            </a:r>
            <a:r>
              <a:rPr lang="en-US" altLang="zh-CN" sz="2800" b="1" i="1" dirty="0"/>
              <a:t>M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d</a:t>
            </a:r>
            <a:r>
              <a:rPr lang="en-US" altLang="zh-CN" sz="2800" b="1" dirty="0"/>
              <a:t>) = 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-1</a:t>
            </a:r>
            <a:endParaRPr lang="zh-CN" altLang="zh-CN" sz="2800" b="1" kern="0" dirty="0"/>
          </a:p>
        </p:txBody>
      </p:sp>
      <p:sp>
        <p:nvSpPr>
          <p:cNvPr id="7" name="副标题 2"/>
          <p:cNvSpPr txBox="1">
            <a:spLocks/>
          </p:cNvSpPr>
          <p:nvPr/>
        </p:nvSpPr>
        <p:spPr>
          <a:xfrm>
            <a:off x="189146" y="5193196"/>
            <a:ext cx="6615101" cy="1116124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en-US" altLang="zh-CN" sz="2800" b="1" kern="0" dirty="0">
                <a:solidFill>
                  <a:schemeClr val="accent2"/>
                </a:solidFill>
              </a:rPr>
              <a:t>Du and Hwang</a:t>
            </a:r>
            <a:r>
              <a:rPr lang="zh-CN" altLang="en-US" sz="2800" b="1" kern="0" dirty="0">
                <a:solidFill>
                  <a:schemeClr val="accent2"/>
                </a:solidFill>
              </a:rPr>
              <a:t>，</a:t>
            </a:r>
            <a:r>
              <a:rPr lang="en-US" altLang="zh-CN" sz="2800" b="1" kern="0" dirty="0">
                <a:solidFill>
                  <a:schemeClr val="accent2"/>
                </a:solidFill>
              </a:rPr>
              <a:t>1982</a:t>
            </a:r>
            <a:r>
              <a:rPr lang="zh-CN" altLang="en-US" sz="2800" b="1" kern="0" dirty="0">
                <a:solidFill>
                  <a:schemeClr val="accent2"/>
                </a:solidFill>
              </a:rPr>
              <a:t>：</a:t>
            </a:r>
            <a:endParaRPr lang="en-US" altLang="zh-CN" sz="2800" b="1" kern="0" dirty="0">
              <a:solidFill>
                <a:schemeClr val="accent2"/>
              </a:solidFill>
            </a:endParaRPr>
          </a:p>
          <a:p>
            <a:pPr algn="l"/>
            <a:r>
              <a:rPr lang="en-US" altLang="zh-CN" sz="2800" b="1" dirty="0"/>
              <a:t>	</a:t>
            </a:r>
            <a:r>
              <a:rPr lang="zh-CN" altLang="zh-CN" sz="2800" b="1" dirty="0"/>
              <a:t>当</a:t>
            </a:r>
            <a:r>
              <a:rPr lang="en-US" altLang="zh-CN" sz="2800" b="1" dirty="0"/>
              <a:t>21</a:t>
            </a:r>
            <a:r>
              <a:rPr lang="en-US" altLang="zh-CN" sz="2800" b="1" i="1" dirty="0"/>
              <a:t>d</a:t>
            </a:r>
            <a:r>
              <a:rPr lang="en-US" altLang="zh-CN" sz="2800" b="1" dirty="0"/>
              <a:t> ≥ 8</a:t>
            </a:r>
            <a:r>
              <a:rPr lang="en-US" altLang="zh-CN" sz="2800" b="1" i="1" dirty="0"/>
              <a:t>n</a:t>
            </a:r>
            <a:r>
              <a:rPr lang="zh-CN" altLang="zh-CN" sz="2800" b="1" dirty="0"/>
              <a:t>时，</a:t>
            </a:r>
            <a:r>
              <a:rPr lang="en-US" altLang="zh-CN" sz="2800" b="1" i="1" dirty="0"/>
              <a:t>M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, </a:t>
            </a:r>
            <a:r>
              <a:rPr lang="en-US" altLang="zh-CN" sz="2800" b="1" i="1" dirty="0"/>
              <a:t>d</a:t>
            </a:r>
            <a:r>
              <a:rPr lang="en-US" altLang="zh-CN" sz="2800" b="1" dirty="0"/>
              <a:t>) = 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-1</a:t>
            </a:r>
            <a:endParaRPr lang="zh-CN" altLang="zh-CN" sz="2800" b="1" kern="0" dirty="0"/>
          </a:p>
        </p:txBody>
      </p:sp>
      <p:sp>
        <p:nvSpPr>
          <p:cNvPr id="8" name="副标题 2"/>
          <p:cNvSpPr txBox="1">
            <a:spLocks/>
          </p:cNvSpPr>
          <p:nvPr/>
        </p:nvSpPr>
        <p:spPr>
          <a:xfrm>
            <a:off x="6398874" y="5658966"/>
            <a:ext cx="2557602" cy="617038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sz="2800" b="1" kern="0" dirty="0">
                <a:solidFill>
                  <a:srgbClr val="FF0000"/>
                </a:solidFill>
              </a:rPr>
              <a:t>目前最好结果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236296" y="3933056"/>
            <a:ext cx="1720180" cy="1368152"/>
            <a:chOff x="6596236" y="3933056"/>
            <a:chExt cx="1576164" cy="1368152"/>
          </a:xfrm>
        </p:grpSpPr>
        <p:sp>
          <p:nvSpPr>
            <p:cNvPr id="3" name="动作按钮: 帮助 2">
              <a:hlinkClick r:id="" action="ppaction://noaction" highlightClick="1"/>
            </p:cNvPr>
            <p:cNvSpPr/>
            <p:nvPr/>
          </p:nvSpPr>
          <p:spPr bwMode="auto">
            <a:xfrm>
              <a:off x="7092280" y="3933056"/>
              <a:ext cx="1080120" cy="1368152"/>
            </a:xfrm>
            <a:prstGeom prst="actionButtonHelp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左箭头 8"/>
            <p:cNvSpPr/>
            <p:nvPr/>
          </p:nvSpPr>
          <p:spPr bwMode="auto">
            <a:xfrm>
              <a:off x="6596236" y="4347102"/>
              <a:ext cx="424035" cy="432048"/>
            </a:xfrm>
            <a:prstGeom prst="lef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1" name="副标题 2"/>
          <p:cNvSpPr txBox="1">
            <a:spLocks/>
          </p:cNvSpPr>
          <p:nvPr/>
        </p:nvSpPr>
        <p:spPr>
          <a:xfrm>
            <a:off x="202331" y="3735034"/>
            <a:ext cx="7177981" cy="1206134"/>
          </a:xfrm>
          <a:prstGeom prst="rect">
            <a:avLst/>
          </a:prstGeom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sz="2800" b="1" kern="0" dirty="0"/>
              <a:t>同时猜想：</a:t>
            </a:r>
            <a:r>
              <a:rPr lang="en-US" altLang="zh-CN" sz="2800" b="1" kern="0" dirty="0"/>
              <a:t>(</a:t>
            </a:r>
            <a:r>
              <a:rPr lang="zh-CN" altLang="en-US" sz="2800" b="1" kern="0" dirty="0">
                <a:sym typeface="Wingdings" panose="05000000000000000000" pitchFamily="2" charset="2"/>
              </a:rPr>
              <a:t>并证明了必要性“</a:t>
            </a:r>
            <a:r>
              <a:rPr lang="en-US" altLang="zh-CN" sz="2800" b="1" kern="0" dirty="0">
                <a:sym typeface="Wingdings" panose="05000000000000000000" pitchFamily="2" charset="2"/>
              </a:rPr>
              <a:t></a:t>
            </a:r>
            <a:r>
              <a:rPr lang="zh-CN" altLang="en-US" sz="2800" b="1" kern="0" dirty="0">
                <a:sym typeface="Wingdings" panose="05000000000000000000" pitchFamily="2" charset="2"/>
              </a:rPr>
              <a:t>”</a:t>
            </a:r>
            <a:r>
              <a:rPr lang="en-US" altLang="zh-CN" sz="2800" b="1" kern="0" dirty="0">
                <a:sym typeface="Wingdings" panose="05000000000000000000" pitchFamily="2" charset="2"/>
              </a:rPr>
              <a:t>)</a:t>
            </a:r>
            <a:endParaRPr lang="en-US" altLang="zh-CN" sz="2800" b="1" kern="0" dirty="0"/>
          </a:p>
          <a:p>
            <a:pPr algn="l"/>
            <a:r>
              <a:rPr lang="en-US" altLang="zh-CN" sz="2800" b="1" kern="0" dirty="0"/>
              <a:t>	</a:t>
            </a:r>
            <a:r>
              <a:rPr lang="zh-CN" altLang="zh-CN" sz="2800" b="1" dirty="0">
                <a:solidFill>
                  <a:srgbClr val="FF0000"/>
                </a:solidFill>
              </a:rPr>
              <a:t>当</a:t>
            </a:r>
            <a:r>
              <a:rPr lang="zh-CN" altLang="en-US" sz="2800" b="1" dirty="0">
                <a:solidFill>
                  <a:srgbClr val="FF0000"/>
                </a:solidFill>
              </a:rPr>
              <a:t>且仅当</a:t>
            </a:r>
            <a:r>
              <a:rPr lang="zh-CN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en-US" altLang="zh-CN" sz="2800" b="1" i="1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FF0000"/>
                </a:solidFill>
              </a:rPr>
              <a:t> ≥ 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</a:rPr>
              <a:t>时，</a:t>
            </a:r>
            <a:r>
              <a:rPr lang="en-US" altLang="zh-CN" sz="2800" b="1" i="1" dirty="0">
                <a:solidFill>
                  <a:srgbClr val="FF0000"/>
                </a:solidFill>
              </a:rPr>
              <a:t>M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</a:rPr>
              <a:t>, </a:t>
            </a:r>
            <a:r>
              <a:rPr lang="en-US" altLang="zh-CN" sz="2800" b="1" i="1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FF0000"/>
                </a:solidFill>
              </a:rPr>
              <a:t>) = 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</a:rPr>
              <a:t>-1</a:t>
            </a:r>
            <a:endParaRPr lang="zh-CN" altLang="zh-CN" sz="2800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26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E72E923-027D-4E89-872F-3D53C8FB4F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32753" y="119675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上述模型的假设，与实际有什么不符？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E596CE3-271F-427A-BA43-68DEB44FEC1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BE42FE0-49D3-42E5-8D78-E84E50302EB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6189C280-AD25-4262-9334-2EEC822EC71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43E5AC96-611A-4F0D-B90E-05742785E10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A1DB4DF-EEA8-46DC-B45D-1883F147CF5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CC5B7B89-10F1-43A0-831B-5DFF0942C39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CDC2753-BFAB-43C5-B73B-3F9D348B36F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323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476672"/>
            <a:ext cx="8928992" cy="648072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accent2"/>
                </a:solidFill>
              </a:rPr>
              <a:t>实际</a:t>
            </a:r>
            <a:r>
              <a:rPr lang="zh-CN" altLang="zh-CN" sz="3600" b="1" dirty="0">
                <a:solidFill>
                  <a:schemeClr val="accent2"/>
                </a:solidFill>
              </a:rPr>
              <a:t>：</a:t>
            </a:r>
            <a:r>
              <a:rPr lang="zh-CN" altLang="en-US" sz="3600" b="1" dirty="0">
                <a:solidFill>
                  <a:schemeClr val="accent2"/>
                </a:solidFill>
              </a:rPr>
              <a:t>一般不知道阳性样本数</a:t>
            </a:r>
            <a:r>
              <a:rPr lang="en-US" altLang="zh-CN" sz="3600" b="1" i="1" dirty="0">
                <a:solidFill>
                  <a:schemeClr val="accent2"/>
                </a:solidFill>
              </a:rPr>
              <a:t>d</a:t>
            </a:r>
            <a:endParaRPr lang="zh-CN" altLang="en-US" sz="3600" b="1" i="1" dirty="0">
              <a:solidFill>
                <a:schemeClr val="accent2"/>
              </a:solidFill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323528" y="1196752"/>
            <a:ext cx="8100945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800" b="1" dirty="0"/>
              <a:t>2020.5.14~6.1</a:t>
            </a:r>
            <a:r>
              <a:rPr lang="zh-CN" altLang="en-US" sz="2800" b="1" dirty="0"/>
              <a:t>武汉对</a:t>
            </a:r>
            <a:r>
              <a:rPr lang="en-US" altLang="zh-CN" sz="2800" b="1" dirty="0"/>
              <a:t>9,899,828</a:t>
            </a:r>
            <a:r>
              <a:rPr lang="zh-CN" altLang="en-US" sz="2800" b="1" dirty="0"/>
              <a:t>人进行了核酸检测，检出无症状感染者</a:t>
            </a:r>
            <a:r>
              <a:rPr lang="en-US" altLang="zh-CN" sz="2800" b="1" dirty="0"/>
              <a:t>300</a:t>
            </a:r>
            <a:r>
              <a:rPr lang="zh-CN" altLang="en-US" sz="2800" b="1" dirty="0"/>
              <a:t>名，</a:t>
            </a:r>
            <a:r>
              <a:rPr lang="zh-CN" altLang="en-US" sz="2800" b="1" dirty="0">
                <a:solidFill>
                  <a:srgbClr val="FF0000"/>
                </a:solidFill>
              </a:rPr>
              <a:t>检出率为</a:t>
            </a:r>
            <a:r>
              <a:rPr lang="en-US" altLang="zh-CN" sz="2800" b="1" dirty="0">
                <a:solidFill>
                  <a:srgbClr val="FF0000"/>
                </a:solidFill>
              </a:rPr>
              <a:t>0.303/</a:t>
            </a:r>
            <a:r>
              <a:rPr lang="zh-CN" altLang="en-US" sz="2800" b="1" dirty="0">
                <a:solidFill>
                  <a:srgbClr val="FF0000"/>
                </a:solidFill>
              </a:rPr>
              <a:t>万</a:t>
            </a:r>
            <a:endParaRPr lang="zh-CN" altLang="en-US" sz="2800" b="1" dirty="0"/>
          </a:p>
        </p:txBody>
      </p:sp>
      <p:sp>
        <p:nvSpPr>
          <p:cNvPr id="7" name="TextBox 7"/>
          <p:cNvSpPr txBox="1"/>
          <p:nvPr/>
        </p:nvSpPr>
        <p:spPr>
          <a:xfrm>
            <a:off x="323528" y="4108350"/>
            <a:ext cx="7916698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检测前做了</a:t>
            </a:r>
            <a:r>
              <a:rPr lang="zh-CN" altLang="en-US" sz="2800" b="1" dirty="0">
                <a:solidFill>
                  <a:srgbClr val="FF0000"/>
                </a:solidFill>
              </a:rPr>
              <a:t>小规模的测试</a:t>
            </a:r>
            <a:r>
              <a:rPr lang="zh-CN" altLang="en-US" sz="2800" b="1" dirty="0"/>
              <a:t>，用于确定</a:t>
            </a:r>
            <a:r>
              <a:rPr lang="zh-CN" altLang="en-US" sz="2800" b="1" dirty="0">
                <a:solidFill>
                  <a:srgbClr val="FF0000"/>
                </a:solidFill>
              </a:rPr>
              <a:t>混检方案</a:t>
            </a:r>
            <a:r>
              <a:rPr lang="zh-CN" altLang="en-US" sz="2800" b="1" dirty="0"/>
              <a:t>（“技术上”可行？将</a:t>
            </a:r>
            <a:r>
              <a:rPr lang="zh-CN" altLang="en-US" sz="2800" b="1" dirty="0">
                <a:solidFill>
                  <a:srgbClr val="FF0000"/>
                </a:solidFill>
              </a:rPr>
              <a:t>多少份样本</a:t>
            </a:r>
            <a:r>
              <a:rPr lang="zh-CN" altLang="en-US" sz="2800" b="1" dirty="0"/>
              <a:t>混合检验？）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3528" y="2420888"/>
            <a:ext cx="8204730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采取</a:t>
            </a:r>
            <a:r>
              <a:rPr lang="en-US" altLang="zh-CN" sz="2800" b="1" dirty="0">
                <a:solidFill>
                  <a:srgbClr val="FF0000"/>
                </a:solidFill>
              </a:rPr>
              <a:t>25%</a:t>
            </a:r>
            <a:r>
              <a:rPr lang="zh-CN" altLang="en-US" sz="2800" b="1" dirty="0">
                <a:solidFill>
                  <a:srgbClr val="FF0000"/>
                </a:solidFill>
              </a:rPr>
              <a:t>混检</a:t>
            </a:r>
            <a:r>
              <a:rPr lang="en-US" altLang="zh-CN" sz="2800" b="1" dirty="0"/>
              <a:t>+75%</a:t>
            </a:r>
            <a:r>
              <a:rPr lang="zh-CN" altLang="en-US" sz="2800" b="1" dirty="0"/>
              <a:t>单检方案，混检是把</a:t>
            </a:r>
            <a:r>
              <a:rPr lang="en-US" altLang="zh-CN" sz="2800" b="1" dirty="0">
                <a:solidFill>
                  <a:srgbClr val="FF0000"/>
                </a:solidFill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</a:rPr>
              <a:t>份样本混在一起检测</a:t>
            </a:r>
            <a:r>
              <a:rPr lang="zh-CN" altLang="en-US" sz="2800" b="1" dirty="0"/>
              <a:t>，如果混合样本呈阳性再进行单检，既保证准确性也</a:t>
            </a:r>
            <a:r>
              <a:rPr lang="zh-CN" altLang="en-US" sz="2800" b="1" dirty="0">
                <a:solidFill>
                  <a:srgbClr val="FF0000"/>
                </a:solidFill>
              </a:rPr>
              <a:t>提高了效率</a:t>
            </a:r>
            <a:r>
              <a:rPr lang="zh-CN" altLang="en-US" sz="2800" b="1" dirty="0"/>
              <a:t>（减少检测次数）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8419" y="5311926"/>
            <a:ext cx="7698037" cy="114140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混检一定能够</a:t>
            </a:r>
            <a:r>
              <a:rPr lang="zh-CN" altLang="en-US" sz="2800" b="1" dirty="0">
                <a:solidFill>
                  <a:srgbClr val="FF0000"/>
                </a:solidFill>
              </a:rPr>
              <a:t>提高效率</a:t>
            </a:r>
            <a:r>
              <a:rPr lang="zh-CN" altLang="en-US" sz="2800" b="1" dirty="0"/>
              <a:t>吗？</a:t>
            </a:r>
            <a:endParaRPr lang="en-US" altLang="zh-CN" sz="2800" b="1" dirty="0"/>
          </a:p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怎样根据事先测试的结果</a:t>
            </a:r>
            <a:r>
              <a:rPr lang="zh-CN" altLang="en-US" sz="2800" b="1" dirty="0">
                <a:solidFill>
                  <a:srgbClr val="FF0000"/>
                </a:solidFill>
              </a:rPr>
              <a:t>确定混检方案</a:t>
            </a:r>
            <a:r>
              <a:rPr lang="zh-CN" altLang="en-US" sz="2800" b="1" dirty="0"/>
              <a:t>？</a:t>
            </a:r>
            <a:endParaRPr lang="en-US" altLang="zh-CN" sz="2800" b="1" dirty="0"/>
          </a:p>
        </p:txBody>
      </p:sp>
      <p:sp>
        <p:nvSpPr>
          <p:cNvPr id="10" name="矩形 9"/>
          <p:cNvSpPr/>
          <p:nvPr/>
        </p:nvSpPr>
        <p:spPr>
          <a:xfrm>
            <a:off x="323529" y="5355213"/>
            <a:ext cx="508237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/>
              <a:t>问题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7675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332656"/>
            <a:ext cx="5904656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核酸“混检”方案：几次变化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069358"/>
            <a:ext cx="8828928" cy="341621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7504" y="1069358"/>
            <a:ext cx="69847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2"/>
                </a:solidFill>
              </a:rPr>
              <a:t>http://www.gov.cn/xinwen/2020-07/23/content_5529372.htm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251520" y="4618842"/>
            <a:ext cx="3672408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indent="-457200">
              <a:lnSpc>
                <a:spcPct val="120000"/>
              </a:lnSpc>
              <a:buFont typeface="Arial" pitchFamily="34" charset="0"/>
              <a:buChar char="•"/>
              <a:defRPr sz="2800" b="1">
                <a:solidFill>
                  <a:schemeClr val="accent2"/>
                </a:solidFill>
              </a:defRPr>
            </a:lvl1pPr>
          </a:lstStyle>
          <a:p>
            <a:r>
              <a:rPr lang="en-US" altLang="zh-CN" dirty="0"/>
              <a:t>2020-07-21</a:t>
            </a:r>
            <a:r>
              <a:rPr lang="zh-CN" altLang="en-US" dirty="0"/>
              <a:t>：  </a:t>
            </a:r>
            <a:r>
              <a:rPr lang="en-US" altLang="zh-CN" dirty="0"/>
              <a:t>5</a:t>
            </a:r>
            <a:r>
              <a:rPr lang="zh-CN" altLang="en-US" dirty="0"/>
              <a:t>合</a:t>
            </a:r>
            <a:r>
              <a:rPr lang="en-US" altLang="zh-CN" dirty="0"/>
              <a:t>1   </a:t>
            </a:r>
          </a:p>
          <a:p>
            <a:r>
              <a:rPr lang="en-US" altLang="zh-CN" dirty="0"/>
              <a:t>2020-08-17</a:t>
            </a:r>
            <a:r>
              <a:rPr lang="zh-CN" altLang="en-US" dirty="0"/>
              <a:t>：</a:t>
            </a:r>
            <a:r>
              <a:rPr lang="en-US" altLang="zh-CN" dirty="0"/>
              <a:t>10</a:t>
            </a:r>
            <a:r>
              <a:rPr lang="zh-CN" altLang="en-US" dirty="0"/>
              <a:t>合</a:t>
            </a:r>
            <a:r>
              <a:rPr lang="en-US" altLang="zh-CN" dirty="0"/>
              <a:t>1   </a:t>
            </a:r>
            <a:endParaRPr lang="zh-CN" altLang="en-US" dirty="0"/>
          </a:p>
          <a:p>
            <a:r>
              <a:rPr lang="en-US" altLang="zh-CN" dirty="0"/>
              <a:t>2022-01-15:   20</a:t>
            </a:r>
            <a:r>
              <a:rPr lang="zh-CN" altLang="en-US" dirty="0"/>
              <a:t>合</a:t>
            </a:r>
            <a:r>
              <a:rPr lang="en-US" altLang="zh-CN" dirty="0"/>
              <a:t>1 </a:t>
            </a:r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2627784" y="2698582"/>
            <a:ext cx="6308648" cy="1522506"/>
            <a:chOff x="2627784" y="2698582"/>
            <a:chExt cx="6308648" cy="1522506"/>
          </a:xfrm>
        </p:grpSpPr>
        <p:cxnSp>
          <p:nvCxnSpPr>
            <p:cNvPr id="14" name="直接箭头连接符 13"/>
            <p:cNvCxnSpPr/>
            <p:nvPr/>
          </p:nvCxnSpPr>
          <p:spPr bwMode="auto">
            <a:xfrm flipH="1">
              <a:off x="2627784" y="3261813"/>
              <a:ext cx="3528392" cy="9592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TextBox 7"/>
            <p:cNvSpPr txBox="1"/>
            <p:nvPr/>
          </p:nvSpPr>
          <p:spPr>
            <a:xfrm>
              <a:off x="6019600" y="2698582"/>
              <a:ext cx="2916832" cy="1126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人群总体阳性率</a:t>
              </a:r>
              <a:endParaRPr lang="en-US" altLang="zh-CN" sz="2800" b="1" dirty="0">
                <a:solidFill>
                  <a:srgbClr val="FF0000"/>
                </a:solidFill>
              </a:endParaRPr>
            </a:p>
            <a:p>
              <a:pPr algn="l"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FF0000"/>
                  </a:solidFill>
                </a:rPr>
                <a:t>低于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0.1%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TextBox 7"/>
          <p:cNvSpPr txBox="1"/>
          <p:nvPr/>
        </p:nvSpPr>
        <p:spPr>
          <a:xfrm>
            <a:off x="4788024" y="4637503"/>
            <a:ext cx="3672408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>
                <a:solidFill>
                  <a:schemeClr val="accent2"/>
                </a:solidFill>
              </a:rPr>
              <a:t>“</a:t>
            </a:r>
            <a:r>
              <a:rPr lang="en-US" altLang="zh-CN" sz="2800" b="1" i="1" dirty="0">
                <a:solidFill>
                  <a:schemeClr val="accent2"/>
                </a:solidFill>
              </a:rPr>
              <a:t>k</a:t>
            </a:r>
            <a:r>
              <a:rPr lang="zh-CN" altLang="en-US" sz="2800" b="1" dirty="0">
                <a:solidFill>
                  <a:schemeClr val="accent2"/>
                </a:solidFill>
              </a:rPr>
              <a:t>合</a:t>
            </a:r>
            <a:r>
              <a:rPr lang="en-US" altLang="zh-CN" sz="2800" b="1" dirty="0">
                <a:solidFill>
                  <a:schemeClr val="accent2"/>
                </a:solidFill>
              </a:rPr>
              <a:t>1</a:t>
            </a:r>
            <a:r>
              <a:rPr lang="zh-CN" altLang="en-US" sz="2800" b="1" dirty="0">
                <a:solidFill>
                  <a:schemeClr val="accent2"/>
                </a:solidFill>
              </a:rPr>
              <a:t>”混检方案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chemeClr val="accent2"/>
                </a:solidFill>
              </a:rPr>
              <a:t>         </a:t>
            </a:r>
            <a:r>
              <a:rPr lang="en-US" altLang="zh-CN" sz="2800" b="1" i="1" dirty="0">
                <a:solidFill>
                  <a:schemeClr val="accent2"/>
                </a:solidFill>
              </a:rPr>
              <a:t>k </a:t>
            </a:r>
            <a:r>
              <a:rPr lang="en-US" altLang="zh-CN" sz="2800" b="1" dirty="0">
                <a:solidFill>
                  <a:schemeClr val="accent2"/>
                </a:solidFill>
              </a:rPr>
              <a:t>= ?    </a:t>
            </a:r>
            <a:r>
              <a:rPr lang="zh-CN" altLang="en-US" sz="2800" b="1" dirty="0">
                <a:solidFill>
                  <a:schemeClr val="accent2"/>
                </a:solidFill>
              </a:rPr>
              <a:t>更合理？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chemeClr val="accent2"/>
                </a:solidFill>
              </a:rPr>
              <a:t>         </a:t>
            </a:r>
            <a:r>
              <a:rPr lang="en-US" altLang="zh-CN" sz="2800" b="1" i="1" dirty="0">
                <a:solidFill>
                  <a:schemeClr val="accent2"/>
                </a:solidFill>
              </a:rPr>
              <a:t>k</a:t>
            </a:r>
            <a:r>
              <a:rPr lang="en-US" altLang="zh-CN" sz="2800" b="1" dirty="0">
                <a:solidFill>
                  <a:schemeClr val="accent2"/>
                </a:solidFill>
              </a:rPr>
              <a:t>  </a:t>
            </a:r>
            <a:r>
              <a:rPr lang="zh-CN" altLang="en-US" sz="2800" b="1" dirty="0">
                <a:solidFill>
                  <a:schemeClr val="accent2"/>
                </a:solidFill>
              </a:rPr>
              <a:t>有没有上限？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32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67961"/>
            <a:ext cx="676875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概率 </a:t>
            </a:r>
            <a:r>
              <a:rPr lang="en-US" altLang="zh-CN" sz="3200" b="1" dirty="0"/>
              <a:t>/ </a:t>
            </a:r>
            <a:r>
              <a:rPr lang="zh-CN" altLang="en-US" sz="3200" b="1" dirty="0"/>
              <a:t>统计模型：平均检测次数模型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7252" y="1221916"/>
            <a:ext cx="7346789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设定单个样本的</a:t>
            </a:r>
            <a:r>
              <a:rPr lang="zh-CN" altLang="en-US" sz="2800" b="1" dirty="0">
                <a:solidFill>
                  <a:srgbClr val="FF0000"/>
                </a:solidFill>
              </a:rPr>
              <a:t>阳性率</a:t>
            </a:r>
            <a:r>
              <a:rPr lang="en-US" altLang="zh-CN" sz="2800" b="1" dirty="0">
                <a:solidFill>
                  <a:srgbClr val="FF0000"/>
                </a:solidFill>
              </a:rPr>
              <a:t>, </a:t>
            </a:r>
            <a:r>
              <a:rPr lang="zh-CN" altLang="en-US" sz="2800" b="1" dirty="0"/>
              <a:t>建立混检的</a:t>
            </a:r>
            <a:r>
              <a:rPr lang="zh-CN" altLang="en-US" sz="2800" b="1" dirty="0">
                <a:solidFill>
                  <a:srgbClr val="FF0000"/>
                </a:solidFill>
              </a:rPr>
              <a:t>平均检测次数</a:t>
            </a:r>
            <a:r>
              <a:rPr lang="zh-CN" altLang="en-US" sz="2800" b="1" dirty="0"/>
              <a:t>模型</a:t>
            </a:r>
            <a:r>
              <a:rPr lang="en-US" altLang="zh-CN" sz="2800" b="1" dirty="0"/>
              <a:t>  </a:t>
            </a:r>
            <a:r>
              <a:rPr lang="en-US" altLang="zh-CN" sz="2800" b="1" dirty="0">
                <a:sym typeface="Wingdings" panose="05000000000000000000" pitchFamily="2" charset="2"/>
              </a:rPr>
              <a:t> </a:t>
            </a:r>
            <a:r>
              <a:rPr lang="zh-CN" altLang="en-US" sz="2800" b="1" dirty="0"/>
              <a:t>混检方案（假设技术上可行）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39" y="2636912"/>
            <a:ext cx="7321603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单个样本</a:t>
            </a:r>
            <a:r>
              <a:rPr lang="zh-CN" altLang="en-US" sz="2800" b="1" dirty="0">
                <a:solidFill>
                  <a:srgbClr val="FF0000"/>
                </a:solidFill>
              </a:rPr>
              <a:t>阳性率为 </a:t>
            </a:r>
            <a:r>
              <a:rPr lang="en-US" altLang="zh-CN" sz="2800" b="1" i="1" dirty="0">
                <a:solidFill>
                  <a:srgbClr val="FF0000"/>
                </a:solidFill>
              </a:rPr>
              <a:t>p </a:t>
            </a:r>
            <a:r>
              <a:rPr lang="zh-CN" altLang="en-US" sz="2800" b="1" dirty="0"/>
              <a:t>，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很小，且每个样本是否呈阳性</a:t>
            </a:r>
            <a:r>
              <a:rPr lang="zh-CN" altLang="en-US" sz="2800" b="1" dirty="0">
                <a:solidFill>
                  <a:srgbClr val="FF0000"/>
                </a:solidFill>
              </a:rPr>
              <a:t>相互独立</a:t>
            </a:r>
            <a:endParaRPr lang="zh-CN" altLang="en-US" sz="2800" b="1" dirty="0"/>
          </a:p>
        </p:txBody>
      </p:sp>
      <p:sp>
        <p:nvSpPr>
          <p:cNvPr id="6" name="矩形 5"/>
          <p:cNvSpPr/>
          <p:nvPr/>
        </p:nvSpPr>
        <p:spPr>
          <a:xfrm>
            <a:off x="395536" y="1210921"/>
            <a:ext cx="1101717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问题分析</a:t>
            </a:r>
            <a:endParaRPr lang="zh-CN" alt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469159" y="5380622"/>
            <a:ext cx="8135289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总样本数为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,  </a:t>
            </a:r>
            <a:r>
              <a:rPr lang="zh-CN" altLang="en-US" sz="2800" b="1" dirty="0">
                <a:solidFill>
                  <a:srgbClr val="FF0000"/>
                </a:solidFill>
              </a:rPr>
              <a:t>混合样本数为</a:t>
            </a:r>
            <a:r>
              <a:rPr lang="en-US" altLang="zh-CN" sz="2800" b="1" i="1" dirty="0">
                <a:solidFill>
                  <a:srgbClr val="FF0000"/>
                </a:solidFill>
              </a:rPr>
              <a:t>k 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将</a:t>
            </a:r>
            <a:r>
              <a:rPr lang="en-US" altLang="zh-CN" sz="2800" b="1" i="1" dirty="0"/>
              <a:t>k</a:t>
            </a:r>
            <a:r>
              <a:rPr lang="zh-CN" altLang="en-US" sz="2800" b="1" dirty="0"/>
              <a:t>份样本混合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，</a:t>
            </a:r>
            <a:r>
              <a:rPr lang="en-US" altLang="zh-CN" sz="2800" b="1" i="1" dirty="0"/>
              <a:t> n &gt;&gt; k </a:t>
            </a:r>
            <a:r>
              <a:rPr lang="en-US" altLang="zh-CN" sz="2800" b="1" dirty="0">
                <a:sym typeface="Symbol" panose="05050102010706020507" pitchFamily="18" charset="2"/>
              </a:rPr>
              <a:t>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2</a:t>
            </a:r>
            <a:r>
              <a:rPr lang="en-US" altLang="zh-CN" sz="2800" b="1" i="1" dirty="0"/>
              <a:t>,  </a:t>
            </a:r>
            <a:r>
              <a:rPr lang="zh-CN" altLang="en-US" sz="2800" b="1" dirty="0"/>
              <a:t>共有</a:t>
            </a:r>
            <a:r>
              <a:rPr lang="en-US" altLang="zh-CN" sz="2800" b="1" i="1" dirty="0"/>
              <a:t> n/k</a:t>
            </a:r>
            <a:r>
              <a:rPr lang="zh-CN" altLang="en-US" sz="2800" b="1" dirty="0"/>
              <a:t>个混合样本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不妨视为整数</a:t>
            </a:r>
            <a:r>
              <a:rPr lang="en-US" altLang="zh-CN" sz="2800" b="1" dirty="0"/>
              <a:t>)  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396753" y="2646480"/>
            <a:ext cx="1101717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模型假设</a:t>
            </a:r>
            <a:endParaRPr lang="zh-CN" alt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4004562"/>
            <a:ext cx="7704856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当混合样本呈</a:t>
            </a:r>
            <a:r>
              <a:rPr lang="zh-CN" altLang="en-US" sz="2800" b="1" dirty="0">
                <a:solidFill>
                  <a:srgbClr val="FF0000"/>
                </a:solidFill>
              </a:rPr>
              <a:t>阴性</a:t>
            </a:r>
            <a:r>
              <a:rPr lang="zh-CN" altLang="en-US" sz="2800" b="1" dirty="0"/>
              <a:t>时，其单个样本</a:t>
            </a:r>
            <a:r>
              <a:rPr lang="zh-CN" altLang="en-US" sz="2800" b="1" dirty="0">
                <a:solidFill>
                  <a:srgbClr val="FF0000"/>
                </a:solidFill>
              </a:rPr>
              <a:t>均不检测；</a:t>
            </a:r>
            <a:endParaRPr lang="en-US" altLang="zh-CN" sz="2800" b="1" dirty="0"/>
          </a:p>
          <a:p>
            <a:pPr algn="l">
              <a:lnSpc>
                <a:spcPct val="120000"/>
              </a:lnSpc>
            </a:pPr>
            <a:r>
              <a:rPr lang="zh-CN" altLang="en-US" sz="2800" b="1" dirty="0"/>
              <a:t>     当混合样本呈</a:t>
            </a:r>
            <a:r>
              <a:rPr lang="zh-CN" altLang="en-US" sz="2800" b="1" dirty="0">
                <a:solidFill>
                  <a:srgbClr val="FF0000"/>
                </a:solidFill>
              </a:rPr>
              <a:t>阳性</a:t>
            </a:r>
            <a:r>
              <a:rPr lang="zh-CN" altLang="en-US" sz="2800" b="1" dirty="0"/>
              <a:t>时，其单个样本</a:t>
            </a:r>
            <a:r>
              <a:rPr lang="zh-CN" altLang="en-US" sz="2800" b="1" dirty="0">
                <a:solidFill>
                  <a:srgbClr val="FF0000"/>
                </a:solidFill>
              </a:rPr>
              <a:t>均做检测</a:t>
            </a:r>
            <a:r>
              <a:rPr lang="en-US" altLang="zh-CN" sz="2800" b="1" dirty="0"/>
              <a:t>    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9475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5" y="1326022"/>
            <a:ext cx="1101717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模型建立 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531936" y="1840714"/>
            <a:ext cx="7072512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混合样本呈</a:t>
            </a:r>
            <a:r>
              <a:rPr lang="zh-CN" altLang="en-US" sz="2800" b="1" dirty="0">
                <a:solidFill>
                  <a:srgbClr val="FF0000"/>
                </a:solidFill>
              </a:rPr>
              <a:t>阴性：</a:t>
            </a:r>
            <a:r>
              <a:rPr lang="zh-CN" altLang="en-US" sz="2800" b="1" dirty="0"/>
              <a:t>概率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q</a:t>
            </a:r>
            <a:r>
              <a:rPr lang="en-US" altLang="zh-CN" sz="2800" b="1" i="1" baseline="30000" dirty="0" err="1">
                <a:solidFill>
                  <a:srgbClr val="FF0000"/>
                </a:solidFill>
              </a:rPr>
              <a:t>k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</a:rPr>
              <a:t>，</a:t>
            </a:r>
            <a:r>
              <a:rPr lang="zh-CN" altLang="en-US" sz="2800" b="1" dirty="0"/>
              <a:t>只</a:t>
            </a:r>
            <a:r>
              <a:rPr lang="zh-CN" altLang="en-US" sz="2800" b="1" dirty="0">
                <a:solidFill>
                  <a:srgbClr val="FF0000"/>
                </a:solidFill>
              </a:rPr>
              <a:t>检测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次</a:t>
            </a:r>
            <a:r>
              <a:rPr lang="zh-CN" altLang="en-US" sz="2800" b="1" dirty="0"/>
              <a:t>；</a:t>
            </a:r>
            <a:endParaRPr lang="en-US" altLang="zh-CN" sz="2800" b="1" baseline="30000" dirty="0">
              <a:solidFill>
                <a:srgbClr val="FF0000"/>
              </a:solidFill>
              <a:latin typeface="+mn-lt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b="1" dirty="0"/>
              <a:t>混合样本呈</a:t>
            </a:r>
            <a:r>
              <a:rPr lang="zh-CN" altLang="en-US" sz="2800" b="1" dirty="0">
                <a:solidFill>
                  <a:srgbClr val="FF0000"/>
                </a:solidFill>
              </a:rPr>
              <a:t>阳性：</a:t>
            </a:r>
            <a:r>
              <a:rPr lang="zh-CN" altLang="en-US" sz="2800" b="1" dirty="0"/>
              <a:t>概率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q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</a:rPr>
              <a:t>, </a:t>
            </a:r>
            <a:r>
              <a:rPr lang="zh-CN" altLang="en-US" sz="2800" b="1" dirty="0"/>
              <a:t>需</a:t>
            </a:r>
            <a:r>
              <a:rPr lang="zh-CN" altLang="en-US" sz="2800" b="1" dirty="0">
                <a:solidFill>
                  <a:srgbClr val="FF0000"/>
                </a:solidFill>
              </a:rPr>
              <a:t>检测</a:t>
            </a:r>
            <a:r>
              <a:rPr lang="en-US" altLang="zh-CN" sz="2800" b="1" i="1" dirty="0">
                <a:solidFill>
                  <a:srgbClr val="FF0000"/>
                </a:solidFill>
              </a:rPr>
              <a:t>k +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次</a:t>
            </a:r>
            <a:r>
              <a:rPr lang="en-US" altLang="zh-CN" sz="2800" b="1" dirty="0"/>
              <a:t>  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31936" y="1231316"/>
            <a:ext cx="754025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单个样本</a:t>
            </a:r>
            <a:r>
              <a:rPr lang="zh-CN" altLang="en-US" sz="2800" b="1" dirty="0">
                <a:solidFill>
                  <a:srgbClr val="FF0000"/>
                </a:solidFill>
              </a:rPr>
              <a:t>阳性率 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/>
              <a:t>, </a:t>
            </a:r>
            <a:r>
              <a:rPr lang="zh-CN" altLang="en-US" sz="2800" b="1" dirty="0">
                <a:solidFill>
                  <a:srgbClr val="FF0000"/>
                </a:solidFill>
              </a:rPr>
              <a:t>阴性率 </a:t>
            </a:r>
            <a:r>
              <a:rPr lang="en-US" altLang="zh-CN" sz="2800" b="1" i="1" dirty="0">
                <a:solidFill>
                  <a:srgbClr val="FF0000"/>
                </a:solidFill>
              </a:rPr>
              <a:t>q</a:t>
            </a:r>
            <a:r>
              <a:rPr lang="en-US" altLang="zh-CN" sz="2800" b="1" dirty="0">
                <a:solidFill>
                  <a:srgbClr val="FF0000"/>
                </a:solidFill>
              </a:rPr>
              <a:t>=1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i="1" dirty="0"/>
              <a:t>, k</a:t>
            </a:r>
            <a:r>
              <a:rPr lang="zh-CN" altLang="en-US" sz="2800" b="1" dirty="0"/>
              <a:t>份样本混合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2996952"/>
            <a:ext cx="828092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个混合样本的平均检测次数（数学期望）：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446" y="3616708"/>
            <a:ext cx="534675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i="1" dirty="0"/>
              <a:t>T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=</a:t>
            </a:r>
            <a:r>
              <a:rPr lang="en-US" altLang="zh-CN" sz="2800" b="1" i="1" dirty="0" err="1"/>
              <a:t>q</a:t>
            </a:r>
            <a:r>
              <a:rPr lang="en-US" altLang="zh-CN" sz="2800" b="1" i="1" baseline="30000" dirty="0" err="1"/>
              <a:t>k</a:t>
            </a:r>
            <a:r>
              <a:rPr lang="en-US" altLang="zh-CN" sz="2800" b="1" i="1" baseline="30000" dirty="0"/>
              <a:t> </a:t>
            </a:r>
            <a:r>
              <a:rPr lang="en-US" altLang="zh-CN" sz="2800" b="1" dirty="0"/>
              <a:t>+ (</a:t>
            </a:r>
            <a:r>
              <a:rPr lang="en-US" altLang="zh-CN" sz="2800" b="1" i="1" dirty="0"/>
              <a:t>k+</a:t>
            </a:r>
            <a:r>
              <a:rPr lang="en-US" altLang="zh-CN" sz="2800" b="1" dirty="0"/>
              <a:t>1) 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</a:t>
            </a:r>
            <a:r>
              <a:rPr lang="en-US" altLang="zh-CN" sz="2800" b="1" i="1" baseline="30000" dirty="0"/>
              <a:t> </a:t>
            </a:r>
            <a:r>
              <a:rPr lang="en-US" altLang="zh-CN" sz="2800" b="1" dirty="0"/>
              <a:t>= </a:t>
            </a:r>
            <a:r>
              <a:rPr lang="en-US" altLang="zh-CN" sz="2800" b="1" i="1" dirty="0"/>
              <a:t>k+</a:t>
            </a:r>
            <a:r>
              <a:rPr lang="en-US" altLang="zh-CN" sz="2800" b="1" dirty="0"/>
              <a:t>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 </a:t>
            </a:r>
            <a:r>
              <a:rPr lang="en-US" altLang="zh-CN" sz="2800" b="1" i="1" dirty="0" err="1"/>
              <a:t>kq</a:t>
            </a:r>
            <a:r>
              <a:rPr lang="en-US" altLang="zh-CN" sz="2800" b="1" i="1" baseline="30000" dirty="0" err="1"/>
              <a:t>k</a:t>
            </a:r>
            <a:endParaRPr lang="zh-CN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7544" y="4221088"/>
            <a:ext cx="5616624" cy="559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全部样本的</a:t>
            </a:r>
            <a:r>
              <a:rPr lang="zh-CN" altLang="en-US" sz="2800" b="1" dirty="0">
                <a:solidFill>
                  <a:srgbClr val="FF0000"/>
                </a:solidFill>
              </a:rPr>
              <a:t>平均</a:t>
            </a:r>
            <a:r>
              <a:rPr lang="zh-CN" altLang="en-US" sz="2800" b="1" dirty="0"/>
              <a:t>总检测次数：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3438" y="4808250"/>
            <a:ext cx="649888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T </a:t>
            </a:r>
            <a:r>
              <a:rPr lang="en-US" altLang="zh-CN" sz="2800" b="1" dirty="0"/>
              <a:t>= </a:t>
            </a:r>
            <a:r>
              <a:rPr lang="en-US" altLang="zh-CN" sz="2800" b="1" i="1" dirty="0"/>
              <a:t>T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n/k</a:t>
            </a:r>
            <a:r>
              <a:rPr lang="en-US" altLang="zh-CN" sz="2800" b="1" dirty="0"/>
              <a:t>) </a:t>
            </a:r>
            <a:r>
              <a:rPr lang="en-US" altLang="zh-CN" sz="2800" b="1" i="1" dirty="0">
                <a:solidFill>
                  <a:srgbClr val="FF0000"/>
                </a:solidFill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</a:rPr>
              <a:t> [1</a:t>
            </a:r>
            <a:r>
              <a:rPr lang="en-US" altLang="zh-CN" sz="2800" b="1" i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</a:rPr>
              <a:t>]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3351" y="5445224"/>
            <a:ext cx="1058585" cy="95410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混检模型</a:t>
            </a:r>
            <a:endParaRPr lang="zh-CN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1693800" y="5446703"/>
            <a:ext cx="7126672" cy="107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已知总样本数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及阳性率 </a:t>
            </a:r>
            <a:r>
              <a:rPr lang="en-US" altLang="zh-CN" sz="2800" b="1" i="1" dirty="0"/>
              <a:t>p, </a:t>
            </a:r>
            <a:r>
              <a:rPr lang="zh-CN" altLang="en-US" sz="2800" b="1" dirty="0"/>
              <a:t>确定</a:t>
            </a:r>
            <a:r>
              <a:rPr lang="zh-CN" altLang="en-US" sz="2800" b="1" dirty="0">
                <a:solidFill>
                  <a:srgbClr val="FF0000"/>
                </a:solidFill>
              </a:rPr>
              <a:t>混检方案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2</a:t>
            </a:r>
            <a:r>
              <a:rPr lang="zh-CN" altLang="en-US" sz="2800" b="1" dirty="0"/>
              <a:t>，使</a:t>
            </a:r>
            <a:r>
              <a:rPr lang="zh-CN" altLang="en-US" sz="2800" b="1" dirty="0">
                <a:solidFill>
                  <a:srgbClr val="FF0000"/>
                </a:solidFill>
              </a:rPr>
              <a:t>平均</a:t>
            </a:r>
            <a:r>
              <a:rPr lang="zh-CN" altLang="en-US" sz="2800" b="1" dirty="0"/>
              <a:t>总检测次数</a:t>
            </a:r>
            <a:r>
              <a:rPr lang="en-US" altLang="zh-CN" sz="2800" b="1" i="1" dirty="0"/>
              <a:t>T</a:t>
            </a:r>
            <a:r>
              <a:rPr lang="zh-CN" altLang="en-US" sz="2800" b="1" dirty="0"/>
              <a:t>最少</a:t>
            </a:r>
          </a:p>
        </p:txBody>
      </p:sp>
      <p:sp>
        <p:nvSpPr>
          <p:cNvPr id="13" name="TextBox 1"/>
          <p:cNvSpPr txBox="1"/>
          <p:nvPr/>
        </p:nvSpPr>
        <p:spPr>
          <a:xfrm>
            <a:off x="539552" y="467961"/>
            <a:ext cx="676875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概率 </a:t>
            </a:r>
            <a:r>
              <a:rPr lang="en-US" altLang="zh-CN" sz="3200" b="1" dirty="0"/>
              <a:t>/ </a:t>
            </a:r>
            <a:r>
              <a:rPr lang="zh-CN" altLang="en-US" sz="3200" b="1" dirty="0"/>
              <a:t>统计模型：平均检测次数模型</a:t>
            </a:r>
          </a:p>
        </p:txBody>
      </p:sp>
    </p:spTree>
    <p:extLst>
      <p:ext uri="{BB962C8B-B14F-4D97-AF65-F5344CB8AC3E}">
        <p14:creationId xmlns:p14="http://schemas.microsoft.com/office/powerpoint/2010/main" val="65899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7832" y="468281"/>
            <a:ext cx="2016225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/>
              <a:t>模型分析 </a:t>
            </a:r>
            <a:endParaRPr lang="zh-CN" altLang="en-US" sz="3200" dirty="0"/>
          </a:p>
        </p:txBody>
      </p:sp>
      <p:sp>
        <p:nvSpPr>
          <p:cNvPr id="19" name="TextBox 4"/>
          <p:cNvSpPr txBox="1"/>
          <p:nvPr/>
        </p:nvSpPr>
        <p:spPr>
          <a:xfrm>
            <a:off x="2483768" y="424445"/>
            <a:ext cx="6552728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T =</a:t>
            </a:r>
            <a:r>
              <a:rPr lang="en-US" altLang="zh-CN" sz="2800" b="1" dirty="0">
                <a:solidFill>
                  <a:srgbClr val="FF0000"/>
                </a:solidFill>
              </a:rPr>
              <a:t> [1</a:t>
            </a:r>
            <a:r>
              <a:rPr lang="en-US" altLang="zh-CN" sz="2800" b="1" i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</a:rPr>
              <a:t>]</a:t>
            </a:r>
            <a:r>
              <a:rPr lang="en-US" altLang="zh-CN" sz="2800" b="1" i="1" dirty="0">
                <a:solidFill>
                  <a:srgbClr val="FF0000"/>
                </a:solidFill>
              </a:rPr>
              <a:t>n        </a:t>
            </a:r>
            <a:r>
              <a:rPr lang="en-US" altLang="zh-CN" sz="2800" b="1" dirty="0">
                <a:solidFill>
                  <a:srgbClr val="FF0000"/>
                </a:solidFill>
              </a:rPr>
              <a:t>(0</a:t>
            </a:r>
            <a:r>
              <a:rPr lang="en-US" altLang="zh-CN" sz="2800" b="1" i="1" dirty="0">
                <a:solidFill>
                  <a:srgbClr val="FF0000"/>
                </a:solidFill>
              </a:rPr>
              <a:t>&lt;p&lt;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i="1" dirty="0">
                <a:solidFill>
                  <a:srgbClr val="FF0000"/>
                </a:solidFill>
              </a:rPr>
              <a:t>, k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  2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0" name="TextBox 4"/>
          <p:cNvSpPr txBox="1"/>
          <p:nvPr/>
        </p:nvSpPr>
        <p:spPr>
          <a:xfrm>
            <a:off x="2555776" y="1053056"/>
            <a:ext cx="3739875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 = 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i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543600" y="1096145"/>
            <a:ext cx="3492896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/>
              <a:t>~ </a:t>
            </a:r>
            <a:r>
              <a:rPr lang="zh-CN" altLang="en-US" sz="2800" b="1" dirty="0"/>
              <a:t>平均每人检测次数</a:t>
            </a:r>
            <a:endParaRPr lang="zh-CN" altLang="en-US" sz="2800" dirty="0"/>
          </a:p>
        </p:txBody>
      </p:sp>
      <p:sp>
        <p:nvSpPr>
          <p:cNvPr id="22" name="TextBox 5"/>
          <p:cNvSpPr txBox="1"/>
          <p:nvPr/>
        </p:nvSpPr>
        <p:spPr>
          <a:xfrm>
            <a:off x="521296" y="3268173"/>
            <a:ext cx="448646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y’ =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 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−(1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[ln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]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21296" y="1772816"/>
            <a:ext cx="78671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i="1" dirty="0"/>
              <a:t>y</a:t>
            </a:r>
            <a:r>
              <a:rPr lang="zh-CN" altLang="en-US" sz="2800" b="1" dirty="0"/>
              <a:t>有没有极小值点？有几个？分别是多少？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ym typeface="Wingdings" panose="05000000000000000000" pitchFamily="2" charset="2"/>
              </a:rPr>
              <a:t>      </a:t>
            </a:r>
            <a:r>
              <a:rPr lang="en-US" altLang="zh-CN" sz="2800" b="1" i="1" dirty="0"/>
              <a:t>y</a:t>
            </a:r>
            <a:r>
              <a:rPr lang="zh-CN" altLang="en-US" sz="2800" b="1" dirty="0"/>
              <a:t>是增函数、减函数？凹函数、凸函数？</a:t>
            </a:r>
            <a:endParaRPr lang="en-US" altLang="zh-CN" sz="2800" b="1" dirty="0"/>
          </a:p>
        </p:txBody>
      </p:sp>
      <p:sp>
        <p:nvSpPr>
          <p:cNvPr id="24" name="TextBox 5"/>
          <p:cNvSpPr txBox="1"/>
          <p:nvPr/>
        </p:nvSpPr>
        <p:spPr>
          <a:xfrm>
            <a:off x="1241376" y="3913799"/>
            <a:ext cx="768660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y’ |</a:t>
            </a:r>
            <a:r>
              <a:rPr lang="en-US" altLang="zh-CN" sz="2800" b="1" i="1" baseline="-25000" dirty="0"/>
              <a:t>k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 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2 </a:t>
            </a:r>
            <a:r>
              <a:rPr lang="en-US" altLang="zh-CN" sz="2800" b="1" i="1" dirty="0"/>
              <a:t>=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dirty="0"/>
              <a:t>1/4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</a:t>
            </a:r>
            <a:r>
              <a:rPr lang="en-US" altLang="zh-CN" sz="2800" b="1" baseline="30000" dirty="0"/>
              <a:t>2</a:t>
            </a:r>
            <a:r>
              <a:rPr lang="en-US" altLang="zh-CN" sz="2800" b="1" dirty="0">
                <a:latin typeface="华文宋体"/>
                <a:ea typeface="华文宋体"/>
              </a:rPr>
              <a:t>[ln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latin typeface="华文宋体"/>
                <a:ea typeface="华文宋体"/>
              </a:rPr>
              <a:t>] </a:t>
            </a:r>
            <a:r>
              <a:rPr lang="en-US" altLang="zh-CN" sz="2800" b="1" dirty="0"/>
              <a:t>&lt; 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dirty="0"/>
              <a:t>1/4</a:t>
            </a:r>
            <a:r>
              <a:rPr lang="en-US" altLang="zh-CN" sz="2800" b="1" i="1" dirty="0"/>
              <a:t> </a:t>
            </a:r>
            <a:r>
              <a:rPr lang="en-US" altLang="zh-CN" sz="2800" b="1" dirty="0">
                <a:latin typeface="华文宋体"/>
                <a:ea typeface="华文宋体"/>
              </a:rPr>
              <a:t>+ </a:t>
            </a:r>
            <a:r>
              <a:rPr lang="en-US" altLang="zh-CN" sz="2800" b="1" dirty="0">
                <a:solidFill>
                  <a:srgbClr val="FF3300"/>
                </a:solidFill>
                <a:latin typeface="华文宋体"/>
                <a:ea typeface="华文宋体"/>
              </a:rPr>
              <a:t>1/2</a:t>
            </a:r>
            <a:r>
              <a:rPr lang="en-US" altLang="zh-CN" sz="2800" b="1" i="1" dirty="0">
                <a:solidFill>
                  <a:srgbClr val="FF3300"/>
                </a:solidFill>
                <a:latin typeface="+mn-lt"/>
                <a:ea typeface="华文宋体"/>
              </a:rPr>
              <a:t>e</a:t>
            </a:r>
            <a:r>
              <a:rPr lang="en-US" altLang="zh-CN" sz="2800" b="1" dirty="0">
                <a:latin typeface="华文宋体"/>
                <a:ea typeface="华文宋体"/>
              </a:rPr>
              <a:t> &lt; 0</a:t>
            </a:r>
            <a:r>
              <a:rPr lang="en-US" altLang="zh-CN" sz="2800" b="1" i="1" baseline="30000" dirty="0"/>
              <a:t>    </a:t>
            </a:r>
            <a:endParaRPr lang="zh-CN" altLang="en-US" sz="2800" b="1" dirty="0"/>
          </a:p>
        </p:txBody>
      </p:sp>
      <p:sp>
        <p:nvSpPr>
          <p:cNvPr id="25" name="TextBox 5"/>
          <p:cNvSpPr txBox="1"/>
          <p:nvPr/>
        </p:nvSpPr>
        <p:spPr>
          <a:xfrm>
            <a:off x="1241376" y="4490367"/>
            <a:ext cx="2110203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y’ |</a:t>
            </a:r>
            <a:r>
              <a:rPr lang="en-US" altLang="zh-CN" sz="2800" b="1" i="1" baseline="-25000" dirty="0"/>
              <a:t>k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 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 </a:t>
            </a:r>
            <a:r>
              <a:rPr lang="en-US" altLang="zh-CN" sz="2800" b="1" i="1" dirty="0"/>
              <a:t>=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latin typeface="华文宋体"/>
                <a:ea typeface="华文宋体"/>
              </a:rPr>
              <a:t>0   </a:t>
            </a:r>
            <a:r>
              <a:rPr lang="en-US" altLang="zh-CN" sz="2800" b="1" i="1" baseline="30000" dirty="0"/>
              <a:t>    </a:t>
            </a:r>
            <a:endParaRPr lang="zh-CN" altLang="en-US" sz="2800" b="1" dirty="0"/>
          </a:p>
        </p:txBody>
      </p:sp>
      <p:sp>
        <p:nvSpPr>
          <p:cNvPr id="26" name="矩形 25"/>
          <p:cNvSpPr/>
          <p:nvPr/>
        </p:nvSpPr>
        <p:spPr>
          <a:xfrm>
            <a:off x="2159224" y="5877272"/>
            <a:ext cx="6768752" cy="65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i="1" dirty="0">
                <a:solidFill>
                  <a:schemeClr val="accent2"/>
                </a:solidFill>
              </a:rPr>
              <a:t>y</a:t>
            </a:r>
            <a:r>
              <a:rPr lang="zh-CN" altLang="en-US" sz="2800" b="1" dirty="0">
                <a:solidFill>
                  <a:schemeClr val="accent2"/>
                </a:solidFill>
              </a:rPr>
              <a:t>这个函数究竟长什么样？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27" name="TextBox 5"/>
          <p:cNvSpPr txBox="1"/>
          <p:nvPr/>
        </p:nvSpPr>
        <p:spPr>
          <a:xfrm>
            <a:off x="521295" y="5214096"/>
            <a:ext cx="448646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y” =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</a:rPr>
              <a:t>/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3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−[ln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]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9" name="TextBox 5"/>
          <p:cNvSpPr txBox="1"/>
          <p:nvPr/>
        </p:nvSpPr>
        <p:spPr>
          <a:xfrm>
            <a:off x="3599384" y="4546486"/>
            <a:ext cx="478904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y</a:t>
            </a:r>
            <a:r>
              <a:rPr lang="zh-CN" altLang="en-US" sz="2800" b="1" dirty="0"/>
              <a:t>有水平渐近线</a:t>
            </a:r>
            <a:r>
              <a:rPr lang="zh-CN" altLang="en-US" sz="2800" b="1" i="1" dirty="0"/>
              <a:t>  </a:t>
            </a:r>
            <a:r>
              <a:rPr lang="en-US" altLang="zh-CN" sz="2800" b="1" i="1" dirty="0" err="1"/>
              <a:t>y|</a:t>
            </a:r>
            <a:r>
              <a:rPr lang="en-US" altLang="zh-CN" sz="2800" b="1" i="1" baseline="-25000" dirty="0" err="1"/>
              <a:t>k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 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</a:t>
            </a:r>
            <a:r>
              <a:rPr lang="en-US" altLang="zh-CN" sz="2800" b="1" i="1" dirty="0"/>
              <a:t>=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latin typeface="华文宋体"/>
                <a:ea typeface="华文宋体"/>
              </a:rPr>
              <a:t>1   </a:t>
            </a:r>
            <a:r>
              <a:rPr lang="en-US" altLang="zh-CN" sz="2800" b="1" i="1" baseline="30000" dirty="0"/>
              <a:t>    </a:t>
            </a:r>
            <a:endParaRPr lang="zh-CN" altLang="en-US" sz="2800" b="1" dirty="0"/>
          </a:p>
        </p:txBody>
      </p:sp>
      <p:sp>
        <p:nvSpPr>
          <p:cNvPr id="30" name="矩形 29"/>
          <p:cNvSpPr/>
          <p:nvPr/>
        </p:nvSpPr>
        <p:spPr>
          <a:xfrm>
            <a:off x="6143803" y="3068960"/>
            <a:ext cx="28206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</a:rPr>
              <a:t>极值</a:t>
            </a:r>
            <a:r>
              <a:rPr lang="en-US" altLang="zh-CN" sz="2800" b="1" i="1" dirty="0">
                <a:solidFill>
                  <a:schemeClr val="accent2"/>
                </a:solidFill>
              </a:rPr>
              <a:t>x</a:t>
            </a:r>
            <a:r>
              <a:rPr lang="en-US" altLang="zh-CN" sz="2800" b="1" baseline="30000" dirty="0">
                <a:solidFill>
                  <a:schemeClr val="accent2"/>
                </a:solidFill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</a:rPr>
              <a:t>ln</a:t>
            </a:r>
            <a:r>
              <a:rPr lang="en-US" altLang="zh-CN" sz="2800" b="1" i="1" dirty="0">
                <a:solidFill>
                  <a:schemeClr val="accent2"/>
                </a:solidFill>
              </a:rPr>
              <a:t>x</a:t>
            </a:r>
            <a:r>
              <a:rPr lang="zh-CN" altLang="en-US" sz="2800" b="1" dirty="0">
                <a:solidFill>
                  <a:schemeClr val="accent2"/>
                </a:solidFill>
              </a:rPr>
              <a:t>的极值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2" name="下箭头 1"/>
          <p:cNvSpPr/>
          <p:nvPr/>
        </p:nvSpPr>
        <p:spPr bwMode="auto">
          <a:xfrm>
            <a:off x="7086093" y="3670661"/>
            <a:ext cx="936104" cy="34147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413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399" y="635000"/>
            <a:ext cx="8102601" cy="21459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对于任意 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0&lt;</a:t>
            </a:r>
            <a:r>
              <a:rPr lang="en-US" altLang="zh-CN" sz="2600" b="1" i="1" dirty="0">
                <a:solidFill>
                  <a:srgbClr val="FF0000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p</a:t>
            </a:r>
            <a:r>
              <a:rPr lang="en-US" altLang="zh-CN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&lt;1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 </a:t>
            </a:r>
            <a:r>
              <a:rPr lang="en-US" altLang="zh-CN" b="1" i="1" dirty="0">
                <a:solidFill>
                  <a:srgbClr val="FF0000"/>
                </a:solidFill>
              </a:rPr>
              <a:t>k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 2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的函数 </a:t>
            </a:r>
            <a:r>
              <a:rPr lang="en-US" altLang="zh-CN" b="1" i="1" dirty="0">
                <a:solidFill>
                  <a:srgbClr val="FF0000"/>
                </a:solidFill>
              </a:rPr>
              <a:t>y = 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</a:rPr>
              <a:t>+</a:t>
            </a:r>
            <a:r>
              <a:rPr lang="en-US" altLang="zh-CN" b="1" dirty="0">
                <a:solidFill>
                  <a:srgbClr val="FF0000"/>
                </a:solidFill>
              </a:rPr>
              <a:t>1/</a:t>
            </a:r>
            <a:r>
              <a:rPr lang="en-US" altLang="zh-CN" b="1" i="1" dirty="0">
                <a:solidFill>
                  <a:srgbClr val="FF0000"/>
                </a:solidFill>
              </a:rPr>
              <a:t>k </a:t>
            </a:r>
            <a:r>
              <a:rPr lang="en-US" altLang="zh-CN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b="1" dirty="0">
                <a:solidFill>
                  <a:srgbClr val="FF0000"/>
                </a:solidFill>
              </a:rPr>
              <a:t>(1</a:t>
            </a:r>
            <a:r>
              <a:rPr lang="en-US" altLang="zh-CN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b="1" i="1" dirty="0">
                <a:solidFill>
                  <a:srgbClr val="FF0000"/>
                </a:solidFill>
              </a:rPr>
              <a:t>p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en-US" altLang="zh-CN" b="1" i="1" baseline="30000" dirty="0">
                <a:solidFill>
                  <a:srgbClr val="FF0000"/>
                </a:solidFill>
              </a:rPr>
              <a:t>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253927" y="26369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 </a:t>
            </a:r>
            <a:r>
              <a:rPr lang="en-US" altLang="zh-CN" sz="2600" b="1" i="1" dirty="0">
                <a:solidFill>
                  <a:srgbClr val="000000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k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的凸函数（二阶导数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253927" y="34941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 </a:t>
            </a:r>
            <a:r>
              <a:rPr lang="en-US" altLang="zh-CN" sz="2600" b="1" i="1" dirty="0">
                <a:solidFill>
                  <a:srgbClr val="000000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k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的凹函数（二阶导数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&lt;0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253926" y="4351412"/>
            <a:ext cx="756654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既不一定是 </a:t>
            </a:r>
            <a:r>
              <a:rPr lang="en-US" altLang="zh-CN" sz="2600" b="1" i="1" dirty="0">
                <a:solidFill>
                  <a:srgbClr val="000000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k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的凸函数，也不一定是 </a:t>
            </a:r>
            <a:r>
              <a:rPr lang="en-US" altLang="zh-CN" sz="2600" b="1" i="1" dirty="0">
                <a:solidFill>
                  <a:srgbClr val="000000"/>
                </a:solidFill>
                <a:latin typeface="+mn-lt"/>
                <a:ea typeface="Microsoft Yahei" panose="020B0503020204020204" pitchFamily="34" charset="-122"/>
                <a:sym typeface="Microsoft Yahei" panose="020B0503020204020204" pitchFamily="34" charset="-122"/>
              </a:rPr>
              <a:t>k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的凹函数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268733" y="5272955"/>
            <a:ext cx="4686226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最多只有一个极小值点</a:t>
            </a: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539552" y="2701205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539552" y="3558455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39552" y="4415705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539552" y="5272955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3978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7504" y="376945"/>
            <a:ext cx="1770067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3200" b="1" i="1" dirty="0"/>
              <a:t>y </a:t>
            </a:r>
            <a:r>
              <a:rPr lang="zh-CN" altLang="en-US" sz="3200" b="1" i="1" dirty="0"/>
              <a:t>的性质</a:t>
            </a:r>
          </a:p>
        </p:txBody>
      </p:sp>
      <p:sp>
        <p:nvSpPr>
          <p:cNvPr id="4" name="矩形 3"/>
          <p:cNvSpPr/>
          <p:nvPr/>
        </p:nvSpPr>
        <p:spPr>
          <a:xfrm>
            <a:off x="149379" y="1278264"/>
            <a:ext cx="3456384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800" b="1" i="1" dirty="0">
                <a:solidFill>
                  <a:srgbClr val="FF0000"/>
                </a:solidFill>
              </a:rPr>
              <a:t>y’ = </a:t>
            </a:r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可能有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个</a:t>
            </a:r>
            <a:r>
              <a:rPr lang="en-US" altLang="zh-CN" sz="2800" b="1" dirty="0"/>
              <a:t>, 1</a:t>
            </a:r>
            <a:r>
              <a:rPr lang="zh-CN" altLang="en-US" sz="2800" b="1" dirty="0"/>
              <a:t>个或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个零点</a:t>
            </a:r>
            <a:endParaRPr lang="en-US" altLang="zh-CN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877571" y="371330"/>
            <a:ext cx="319423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 =</a:t>
            </a:r>
            <a:r>
              <a:rPr lang="en-US" altLang="zh-CN" sz="2800" b="1" dirty="0">
                <a:solidFill>
                  <a:srgbClr val="FF0000"/>
                </a:solidFill>
              </a:rPr>
              <a:t> 1</a:t>
            </a:r>
            <a:r>
              <a:rPr lang="en-US" altLang="zh-CN" sz="2800" b="1" i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9" name="TextBox 5"/>
          <p:cNvSpPr txBox="1"/>
          <p:nvPr/>
        </p:nvSpPr>
        <p:spPr>
          <a:xfrm>
            <a:off x="5004048" y="375201"/>
            <a:ext cx="413995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y’ =</a:t>
            </a:r>
            <a:r>
              <a:rPr lang="en-US" altLang="zh-CN" sz="2800" b="1" dirty="0">
                <a:solidFill>
                  <a:srgbClr val="FF0000"/>
                </a:solidFill>
              </a:rPr>
              <a:t> -1/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−[ln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]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59536" y="1209409"/>
            <a:ext cx="4565403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latin typeface="+mn-lt"/>
                <a:ea typeface="华文宋体"/>
              </a:rPr>
              <a:t>p</a:t>
            </a:r>
            <a:r>
              <a:rPr lang="zh-CN" altLang="en-US" sz="2800" b="1" dirty="0">
                <a:latin typeface="华文宋体"/>
                <a:ea typeface="华文宋体"/>
              </a:rPr>
              <a:t>大    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ym typeface="Symbol" panose="05050102010706020507" pitchFamily="18" charset="2"/>
              </a:rPr>
              <a:t>                             </a:t>
            </a:r>
            <a:r>
              <a:rPr lang="en-US" altLang="zh-CN" sz="2800" b="1" dirty="0"/>
              <a:t>0 </a:t>
            </a:r>
          </a:p>
          <a:p>
            <a:pPr>
              <a:lnSpc>
                <a:spcPct val="120000"/>
              </a:lnSpc>
            </a:pPr>
            <a:r>
              <a:rPr lang="en-US" altLang="zh-CN" sz="2800" b="1" i="1" dirty="0">
                <a:latin typeface="+mn-lt"/>
                <a:ea typeface="华文宋体"/>
              </a:rPr>
              <a:t>p</a:t>
            </a:r>
            <a:r>
              <a:rPr lang="zh-CN" altLang="en-US" sz="2800" b="1" dirty="0">
                <a:latin typeface="华文宋体"/>
                <a:ea typeface="华文宋体"/>
              </a:rPr>
              <a:t>小    </a:t>
            </a:r>
            <a:r>
              <a:rPr lang="en-US" altLang="zh-CN" sz="2800" b="1" dirty="0">
                <a:latin typeface="华文宋体"/>
                <a:ea typeface="华文宋体"/>
              </a:rPr>
              <a:t>−   </a:t>
            </a:r>
            <a:r>
              <a:rPr lang="en-US" altLang="zh-CN" sz="2800" b="1" dirty="0"/>
              <a:t>0    +                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0</a:t>
            </a:r>
          </a:p>
          <a:p>
            <a:pPr>
              <a:lnSpc>
                <a:spcPct val="120000"/>
              </a:lnSpc>
            </a:pPr>
            <a:r>
              <a:rPr lang="en-US" altLang="zh-CN" sz="2800" b="1" i="1" dirty="0">
                <a:latin typeface="+mn-lt"/>
                <a:ea typeface="华文宋体"/>
              </a:rPr>
              <a:t>p</a:t>
            </a:r>
            <a:r>
              <a:rPr lang="zh-CN" altLang="en-US" sz="2800" b="1" dirty="0">
                <a:latin typeface="华文宋体"/>
                <a:ea typeface="华文宋体"/>
              </a:rPr>
              <a:t>中    </a:t>
            </a:r>
            <a:r>
              <a:rPr lang="en-US" altLang="zh-CN" sz="2800" b="1" dirty="0">
                <a:latin typeface="华文宋体"/>
                <a:ea typeface="华文宋体"/>
              </a:rPr>
              <a:t>−   </a:t>
            </a:r>
            <a:r>
              <a:rPr lang="en-US" altLang="zh-CN" sz="2800" b="1" dirty="0"/>
              <a:t>0    +     0   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dirty="0"/>
              <a:t>   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0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944" y="2703112"/>
            <a:ext cx="2371304" cy="3807442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813640" y="3065862"/>
            <a:ext cx="17135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y      </a:t>
            </a:r>
          </a:p>
          <a:p>
            <a:endParaRPr lang="en-US" altLang="zh-CN" b="1" i="1" dirty="0">
              <a:solidFill>
                <a:srgbClr val="FF0000"/>
              </a:solidFill>
            </a:endParaRPr>
          </a:p>
          <a:p>
            <a:endParaRPr lang="en-US" altLang="zh-CN" b="1" i="1" dirty="0">
              <a:solidFill>
                <a:srgbClr val="FF0000"/>
              </a:solidFill>
            </a:endParaRPr>
          </a:p>
          <a:p>
            <a:r>
              <a:rPr lang="en-US" altLang="zh-CN" b="1" i="1" dirty="0">
                <a:solidFill>
                  <a:srgbClr val="FF0000"/>
                </a:solidFill>
              </a:rPr>
              <a:t>        p=0.2</a:t>
            </a:r>
            <a:endParaRPr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768" y="2683254"/>
            <a:ext cx="2453232" cy="3827299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2448435" y="3102746"/>
            <a:ext cx="18526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y</a:t>
            </a:r>
          </a:p>
          <a:p>
            <a:endParaRPr lang="en-US" altLang="zh-CN" b="1" i="1" dirty="0">
              <a:solidFill>
                <a:srgbClr val="FF0000"/>
              </a:solidFill>
            </a:endParaRPr>
          </a:p>
          <a:p>
            <a:r>
              <a:rPr lang="en-US" altLang="zh-CN" b="1" i="1" dirty="0">
                <a:solidFill>
                  <a:srgbClr val="FF0000"/>
                </a:solidFill>
              </a:rPr>
              <a:t>       p=0.4</a:t>
            </a:r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0" y="2697026"/>
            <a:ext cx="2344868" cy="3813527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6974509" y="3117756"/>
            <a:ext cx="16299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y</a:t>
            </a:r>
          </a:p>
          <a:p>
            <a:endParaRPr lang="en-US" altLang="zh-CN" b="1" i="1" dirty="0">
              <a:solidFill>
                <a:srgbClr val="FF0000"/>
              </a:solidFill>
            </a:endParaRPr>
          </a:p>
          <a:p>
            <a:r>
              <a:rPr lang="en-US" altLang="zh-CN" b="1" i="1" dirty="0">
                <a:solidFill>
                  <a:srgbClr val="FF0000"/>
                </a:solidFill>
              </a:rPr>
              <a:t>     p=0.05</a:t>
            </a:r>
            <a:endParaRPr lang="zh-CN" altLang="en-US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6" y="2683254"/>
            <a:ext cx="2240768" cy="3827300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296359" y="3065862"/>
            <a:ext cx="16561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y</a:t>
            </a:r>
          </a:p>
          <a:p>
            <a:endParaRPr lang="en-US" altLang="zh-CN" b="1" i="1" dirty="0">
              <a:solidFill>
                <a:srgbClr val="FF0000"/>
              </a:solidFill>
            </a:endParaRPr>
          </a:p>
          <a:p>
            <a:r>
              <a:rPr lang="en-US" altLang="zh-CN" b="1" i="1" dirty="0">
                <a:solidFill>
                  <a:srgbClr val="FF0000"/>
                </a:solidFill>
              </a:rPr>
              <a:t>      p=0.6</a:t>
            </a:r>
            <a:endParaRPr lang="zh-CN" altLang="en-US" dirty="0"/>
          </a:p>
        </p:txBody>
      </p:sp>
      <p:sp>
        <p:nvSpPr>
          <p:cNvPr id="5" name="下箭头 4"/>
          <p:cNvSpPr/>
          <p:nvPr/>
        </p:nvSpPr>
        <p:spPr bwMode="auto">
          <a:xfrm>
            <a:off x="6659664" y="970687"/>
            <a:ext cx="825681" cy="38570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01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0" grpId="0"/>
      <p:bldP spid="21" grpId="0"/>
      <p:bldP spid="23" grpId="0"/>
      <p:bldP spid="25" grpId="0"/>
      <p:bldP spid="27" grpId="0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754" y="473619"/>
            <a:ext cx="2016225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3200" b="1" i="1" dirty="0"/>
              <a:t>y’ </a:t>
            </a:r>
            <a:r>
              <a:rPr lang="zh-CN" altLang="en-US" sz="3200" b="1" dirty="0"/>
              <a:t>的性质 </a:t>
            </a:r>
            <a:endParaRPr lang="zh-CN" altLang="en-US" sz="3200" dirty="0"/>
          </a:p>
        </p:txBody>
      </p:sp>
      <p:sp>
        <p:nvSpPr>
          <p:cNvPr id="19" name="TextBox 4"/>
          <p:cNvSpPr txBox="1"/>
          <p:nvPr/>
        </p:nvSpPr>
        <p:spPr>
          <a:xfrm>
            <a:off x="2483768" y="424445"/>
            <a:ext cx="604867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 =</a:t>
            </a:r>
            <a:r>
              <a:rPr lang="en-US" altLang="zh-CN" sz="2800" b="1" dirty="0">
                <a:solidFill>
                  <a:srgbClr val="FF0000"/>
                </a:solidFill>
              </a:rPr>
              <a:t> 1</a:t>
            </a:r>
            <a:r>
              <a:rPr lang="en-US" altLang="zh-CN" sz="2800" b="1" i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i="1" dirty="0">
                <a:solidFill>
                  <a:srgbClr val="FF0000"/>
                </a:solidFill>
              </a:rPr>
              <a:t>       </a:t>
            </a:r>
            <a:r>
              <a:rPr lang="en-US" altLang="zh-CN" sz="2800" b="1" dirty="0">
                <a:solidFill>
                  <a:srgbClr val="FF0000"/>
                </a:solidFill>
              </a:rPr>
              <a:t>(0</a:t>
            </a:r>
            <a:r>
              <a:rPr lang="en-US" altLang="zh-CN" sz="2800" b="1" i="1" dirty="0">
                <a:solidFill>
                  <a:srgbClr val="FF0000"/>
                </a:solidFill>
              </a:rPr>
              <a:t>&lt;p&lt;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i="1" dirty="0">
                <a:solidFill>
                  <a:srgbClr val="FF0000"/>
                </a:solidFill>
              </a:rPr>
              <a:t>, k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  2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2394057" y="1052736"/>
            <a:ext cx="448646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y’ =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 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 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[ln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]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5" name="TextBox 5"/>
          <p:cNvSpPr txBox="1"/>
          <p:nvPr/>
        </p:nvSpPr>
        <p:spPr>
          <a:xfrm>
            <a:off x="2394057" y="4149080"/>
            <a:ext cx="5922359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f’ = </a:t>
            </a:r>
            <a:r>
              <a:rPr lang="en-US" altLang="zh-CN" sz="2800" b="1" dirty="0"/>
              <a:t>2</a:t>
            </a:r>
            <a:r>
              <a:rPr lang="en-US" altLang="zh-CN" sz="2800" b="1" i="1" dirty="0"/>
              <a:t>k 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 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30000" dirty="0" err="1"/>
              <a:t>k</a:t>
            </a:r>
            <a:r>
              <a:rPr lang="en-US" altLang="zh-CN" sz="2800" b="1" dirty="0"/>
              <a:t> </a:t>
            </a:r>
            <a:r>
              <a:rPr lang="en-US" altLang="zh-CN" sz="2800" b="1" i="1" baseline="30000" dirty="0"/>
              <a:t>  </a:t>
            </a:r>
            <a:r>
              <a:rPr lang="en-US" altLang="zh-CN" sz="2800" b="1" dirty="0">
                <a:sym typeface="Symbol" panose="05050102010706020507" pitchFamily="18" charset="2"/>
              </a:rPr>
              <a:t>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2</a:t>
            </a:r>
            <a:r>
              <a:rPr lang="en-US" altLang="zh-CN" sz="2800" b="1" i="1" dirty="0">
                <a:sym typeface="Symbol" panose="05050102010706020507" pitchFamily="18" charset="2"/>
              </a:rPr>
              <a:t>k 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2</a:t>
            </a:r>
            <a:r>
              <a:rPr lang="en-US" altLang="zh-CN" sz="2800" b="1" i="1" baseline="30000" dirty="0"/>
              <a:t>k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 0</a:t>
            </a:r>
            <a:endParaRPr lang="zh-CN" altLang="en-US" sz="2800" b="1" dirty="0"/>
          </a:p>
        </p:txBody>
      </p:sp>
      <p:sp>
        <p:nvSpPr>
          <p:cNvPr id="26" name="矩形 25"/>
          <p:cNvSpPr/>
          <p:nvPr/>
        </p:nvSpPr>
        <p:spPr>
          <a:xfrm>
            <a:off x="563714" y="6021288"/>
            <a:ext cx="7752702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i="1" dirty="0">
                <a:solidFill>
                  <a:schemeClr val="accent2"/>
                </a:solidFill>
                <a:ea typeface="华文宋体"/>
              </a:rPr>
              <a:t>若 </a:t>
            </a:r>
            <a:r>
              <a:rPr lang="en-US" altLang="zh-CN" sz="2800" b="1" i="1" dirty="0">
                <a:solidFill>
                  <a:schemeClr val="accent2"/>
                </a:solidFill>
                <a:ea typeface="华文宋体"/>
              </a:rPr>
              <a:t>a</a:t>
            </a:r>
            <a:r>
              <a:rPr lang="en-US" altLang="zh-CN" sz="2800" b="1" i="1" dirty="0">
                <a:solidFill>
                  <a:schemeClr val="accent2"/>
                </a:solidFill>
              </a:rPr>
              <a:t>  (</a:t>
            </a:r>
            <a:r>
              <a:rPr lang="zh-CN" altLang="en-US" sz="2800" b="1" i="1" dirty="0">
                <a:solidFill>
                  <a:schemeClr val="accent2"/>
                </a:solidFill>
              </a:rPr>
              <a:t>即 </a:t>
            </a:r>
            <a:r>
              <a:rPr lang="en-US" altLang="zh-CN" sz="2800" b="1" i="1" dirty="0">
                <a:solidFill>
                  <a:schemeClr val="accent2"/>
                </a:solidFill>
              </a:rPr>
              <a:t>p) </a:t>
            </a:r>
            <a:r>
              <a:rPr lang="en-US" altLang="zh-CN" sz="2800" b="1" i="1" baseline="30000" dirty="0">
                <a:solidFill>
                  <a:schemeClr val="accent2"/>
                </a:solidFill>
              </a:rPr>
              <a:t> </a:t>
            </a:r>
            <a:r>
              <a:rPr lang="zh-CN" altLang="en-US" sz="2800" b="1" i="1" dirty="0">
                <a:solidFill>
                  <a:schemeClr val="accent2"/>
                </a:solidFill>
              </a:rPr>
              <a:t>较小呢 ？阈值？ </a:t>
            </a:r>
            <a:r>
              <a:rPr lang="zh-CN" altLang="en-US" sz="2800" b="1" dirty="0">
                <a:solidFill>
                  <a:schemeClr val="accent2"/>
                </a:solidFill>
              </a:rPr>
              <a:t>（请课后思考）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568" y="1621169"/>
            <a:ext cx="64084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能否理论分析：</a:t>
            </a:r>
            <a:r>
              <a:rPr lang="en-US" altLang="zh-CN" sz="2800" b="1" i="1" dirty="0"/>
              <a:t>y’ </a:t>
            </a:r>
            <a:r>
              <a:rPr lang="zh-CN" altLang="en-US" sz="2800" b="1" dirty="0"/>
              <a:t>有没有零点？有几个？</a:t>
            </a:r>
            <a:endParaRPr lang="zh-CN" altLang="en-US" sz="2800" dirty="0"/>
          </a:p>
        </p:txBody>
      </p:sp>
      <p:sp>
        <p:nvSpPr>
          <p:cNvPr id="13" name="TextBox 5"/>
          <p:cNvSpPr txBox="1"/>
          <p:nvPr/>
        </p:nvSpPr>
        <p:spPr>
          <a:xfrm>
            <a:off x="2317780" y="2348880"/>
            <a:ext cx="6335499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y’ =</a:t>
            </a:r>
            <a:r>
              <a:rPr lang="en-US" altLang="zh-CN" sz="2800" b="1" dirty="0">
                <a:solidFill>
                  <a:srgbClr val="FF0000"/>
                </a:solidFill>
              </a:rPr>
              <a:t> 0 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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  <a:sym typeface="Wingdings" panose="05000000000000000000" pitchFamily="2" charset="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= 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[ln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]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TextBox 5"/>
          <p:cNvSpPr txBox="1"/>
          <p:nvPr/>
        </p:nvSpPr>
        <p:spPr>
          <a:xfrm>
            <a:off x="2340957" y="2927895"/>
            <a:ext cx="6335499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          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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  <a:sym typeface="Wingdings" panose="05000000000000000000" pitchFamily="2" charset="2"/>
              </a:rPr>
              <a:t>   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2</a:t>
            </a:r>
            <a:r>
              <a:rPr lang="en-US" altLang="zh-CN" sz="2800" b="1" i="1" dirty="0">
                <a:solidFill>
                  <a:srgbClr val="FF0000"/>
                </a:solidFill>
              </a:rPr>
              <a:t>  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= 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-k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/[ln(1/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))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]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5" name="TextBox 5"/>
          <p:cNvSpPr txBox="1"/>
          <p:nvPr/>
        </p:nvSpPr>
        <p:spPr>
          <a:xfrm>
            <a:off x="503434" y="3506910"/>
            <a:ext cx="676875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记</a:t>
            </a:r>
            <a:r>
              <a:rPr lang="zh-CN" altLang="en-US" sz="2800" b="1" i="1" dirty="0"/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f =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k</a:t>
            </a:r>
            <a:r>
              <a:rPr lang="en-US" altLang="zh-CN" sz="2800" b="1" i="1" baseline="30000" dirty="0">
                <a:solidFill>
                  <a:schemeClr val="accent2"/>
                </a:solidFill>
              </a:rPr>
              <a:t>2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 err="1">
                <a:solidFill>
                  <a:schemeClr val="accent2"/>
                </a:solidFill>
              </a:rPr>
              <a:t>a</a:t>
            </a:r>
            <a:r>
              <a:rPr lang="en-US" altLang="zh-CN" sz="2800" b="1" i="1" baseline="30000" dirty="0" err="1">
                <a:solidFill>
                  <a:schemeClr val="accent2"/>
                </a:solidFill>
              </a:rPr>
              <a:t>k</a:t>
            </a:r>
            <a:r>
              <a:rPr lang="en-US" altLang="zh-CN" sz="2800" b="1" dirty="0">
                <a:solidFill>
                  <a:schemeClr val="accent2"/>
                </a:solidFill>
                <a:latin typeface="华文宋体"/>
                <a:ea typeface="华文宋体"/>
              </a:rPr>
              <a:t>/ln </a:t>
            </a:r>
            <a:r>
              <a:rPr lang="en-US" altLang="zh-CN" sz="2800" b="1" i="1" dirty="0">
                <a:solidFill>
                  <a:schemeClr val="accent2"/>
                </a:solidFill>
                <a:latin typeface="+mn-lt"/>
                <a:ea typeface="华文宋体"/>
              </a:rPr>
              <a:t>a</a:t>
            </a:r>
            <a:r>
              <a:rPr lang="en-US" altLang="zh-CN" sz="2800" b="1" dirty="0">
                <a:solidFill>
                  <a:schemeClr val="accent2"/>
                </a:solidFill>
                <a:latin typeface="华文宋体"/>
                <a:ea typeface="华文宋体"/>
              </a:rPr>
              <a:t> ,   </a:t>
            </a:r>
            <a:r>
              <a:rPr lang="zh-CN" altLang="en-US" sz="2800" b="1" dirty="0"/>
              <a:t>其中 </a:t>
            </a:r>
            <a:r>
              <a:rPr lang="en-US" altLang="zh-CN" sz="2800" b="1" i="1" dirty="0">
                <a:solidFill>
                  <a:schemeClr val="accent2"/>
                </a:solidFill>
                <a:ea typeface="华文宋体"/>
              </a:rPr>
              <a:t>a </a:t>
            </a:r>
            <a:r>
              <a:rPr lang="en-US" altLang="zh-CN" sz="2800" b="1" dirty="0">
                <a:solidFill>
                  <a:schemeClr val="accent2"/>
                </a:solidFill>
                <a:latin typeface="华文宋体"/>
                <a:ea typeface="华文宋体"/>
              </a:rPr>
              <a:t>= 1/</a:t>
            </a:r>
            <a:r>
              <a:rPr lang="en-US" altLang="zh-CN" sz="2800" b="1" dirty="0">
                <a:solidFill>
                  <a:schemeClr val="accent2"/>
                </a:solidFill>
              </a:rPr>
              <a:t>(1</a:t>
            </a:r>
            <a:r>
              <a:rPr lang="en-US" altLang="zh-CN" sz="2800" b="1" dirty="0">
                <a:solidFill>
                  <a:schemeClr val="accent2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chemeClr val="accent2"/>
                </a:solidFill>
              </a:rPr>
              <a:t>p</a:t>
            </a:r>
            <a:r>
              <a:rPr lang="en-US" altLang="zh-CN" sz="2800" b="1" dirty="0">
                <a:solidFill>
                  <a:schemeClr val="accent2"/>
                </a:solidFill>
              </a:rPr>
              <a:t>) &gt; 1 </a:t>
            </a:r>
            <a:r>
              <a:rPr lang="en-US" altLang="zh-CN" sz="2800" b="1" i="1" baseline="30000" dirty="0">
                <a:solidFill>
                  <a:schemeClr val="accent2"/>
                </a:solidFill>
              </a:rPr>
              <a:t>    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6" name="TextBox 5"/>
          <p:cNvSpPr txBox="1"/>
          <p:nvPr/>
        </p:nvSpPr>
        <p:spPr>
          <a:xfrm>
            <a:off x="574579" y="4147603"/>
            <a:ext cx="1800200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i="1" dirty="0">
                <a:solidFill>
                  <a:schemeClr val="accent2"/>
                </a:solidFill>
                <a:ea typeface="华文宋体"/>
              </a:rPr>
              <a:t>若 </a:t>
            </a:r>
            <a:r>
              <a:rPr lang="en-US" altLang="zh-CN" sz="2800" b="1" i="1" dirty="0">
                <a:solidFill>
                  <a:schemeClr val="accent2"/>
                </a:solidFill>
                <a:ea typeface="华文宋体"/>
              </a:rPr>
              <a:t>a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800" b="1" dirty="0">
                <a:solidFill>
                  <a:schemeClr val="accent2"/>
                </a:solidFill>
              </a:rPr>
              <a:t> 2 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accent2"/>
                </a:solidFill>
              </a:rPr>
              <a:t>(</a:t>
            </a:r>
            <a:r>
              <a:rPr lang="en-US" altLang="zh-CN" sz="2800" b="1" i="1" dirty="0">
                <a:solidFill>
                  <a:schemeClr val="accent2"/>
                </a:solidFill>
              </a:rPr>
              <a:t>p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  0.5</a:t>
            </a:r>
            <a:r>
              <a:rPr lang="en-US" altLang="zh-CN" sz="2800" b="1" dirty="0">
                <a:solidFill>
                  <a:schemeClr val="accent2"/>
                </a:solidFill>
              </a:rPr>
              <a:t>) </a:t>
            </a:r>
            <a:r>
              <a:rPr lang="en-US" altLang="zh-CN" sz="2800" b="1" i="1" baseline="30000" dirty="0">
                <a:solidFill>
                  <a:schemeClr val="accent2"/>
                </a:solidFill>
              </a:rPr>
              <a:t>    </a:t>
            </a:r>
            <a:endParaRPr lang="zh-CN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7" name="TextBox 5"/>
          <p:cNvSpPr txBox="1"/>
          <p:nvPr/>
        </p:nvSpPr>
        <p:spPr>
          <a:xfrm>
            <a:off x="2374779" y="4707962"/>
            <a:ext cx="6440135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f &lt; f |</a:t>
            </a:r>
            <a:r>
              <a:rPr lang="en-US" altLang="zh-CN" sz="2800" b="1" i="1" baseline="-25000" dirty="0"/>
              <a:t>k</a:t>
            </a:r>
            <a:r>
              <a:rPr lang="en-US" altLang="zh-CN" sz="2800" b="1" i="1" baseline="-25000" dirty="0">
                <a:sym typeface="Symbol" panose="05050102010706020507" pitchFamily="18" charset="2"/>
              </a:rPr>
              <a:t> 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2 </a:t>
            </a:r>
            <a:r>
              <a:rPr lang="en-US" altLang="zh-CN" sz="2800" b="1" i="1" dirty="0"/>
              <a:t>= </a:t>
            </a:r>
            <a:r>
              <a:rPr lang="en-US" altLang="zh-CN" sz="2800" b="1" dirty="0"/>
              <a:t>4</a:t>
            </a:r>
            <a:r>
              <a:rPr lang="en-US" altLang="zh-CN" sz="2800" b="1" i="1" dirty="0"/>
              <a:t> </a:t>
            </a:r>
            <a:r>
              <a:rPr lang="en-US" altLang="zh-CN" sz="2800" b="1" dirty="0">
                <a:latin typeface="华文宋体"/>
                <a:ea typeface="华文宋体"/>
              </a:rPr>
              <a:t>− </a:t>
            </a:r>
            <a:r>
              <a:rPr lang="en-US" altLang="zh-CN" sz="2800" b="1" i="1" dirty="0"/>
              <a:t>a</a:t>
            </a:r>
            <a:r>
              <a:rPr lang="en-US" altLang="zh-CN" sz="2800" b="1" baseline="30000" dirty="0"/>
              <a:t>2</a:t>
            </a:r>
            <a:r>
              <a:rPr lang="en-US" altLang="zh-CN" sz="2800" b="1" dirty="0">
                <a:latin typeface="华文宋体"/>
                <a:ea typeface="华文宋体"/>
              </a:rPr>
              <a:t>/ln </a:t>
            </a:r>
            <a:r>
              <a:rPr lang="en-US" altLang="zh-CN" sz="2800" b="1" i="1" dirty="0">
                <a:ea typeface="华文宋体"/>
              </a:rPr>
              <a:t>a </a:t>
            </a:r>
            <a:r>
              <a:rPr lang="en-US" altLang="zh-CN" sz="2800" b="1" dirty="0">
                <a:sym typeface="Symbol" panose="05050102010706020507" pitchFamily="18" charset="2"/>
              </a:rPr>
              <a:t>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4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2</a:t>
            </a:r>
            <a:r>
              <a:rPr lang="en-US" altLang="zh-CN" sz="2800" b="1" baseline="30000" dirty="0"/>
              <a:t>2</a:t>
            </a:r>
            <a:r>
              <a:rPr lang="en-US" altLang="zh-CN" sz="2800" b="1" dirty="0">
                <a:latin typeface="华文宋体"/>
                <a:ea typeface="华文宋体"/>
              </a:rPr>
              <a:t>/ln </a:t>
            </a:r>
            <a:r>
              <a:rPr lang="en-US" altLang="zh-CN" sz="2800" b="1" dirty="0">
                <a:ea typeface="华文宋体"/>
              </a:rPr>
              <a:t>2</a:t>
            </a:r>
            <a:r>
              <a:rPr lang="en-US" altLang="zh-CN" sz="2800" b="1" i="1" dirty="0">
                <a:sym typeface="Symbol" panose="05050102010706020507" pitchFamily="18" charset="2"/>
              </a:rPr>
              <a:t> &lt; </a:t>
            </a:r>
            <a:r>
              <a:rPr lang="en-US" altLang="zh-CN" sz="2800" b="1" dirty="0">
                <a:sym typeface="Symbol" panose="05050102010706020507" pitchFamily="18" charset="2"/>
              </a:rPr>
              <a:t>0</a:t>
            </a:r>
            <a:endParaRPr lang="zh-CN" altLang="en-US" sz="2800" b="1" dirty="0"/>
          </a:p>
        </p:txBody>
      </p:sp>
      <p:sp>
        <p:nvSpPr>
          <p:cNvPr id="2" name="矩形 1"/>
          <p:cNvSpPr/>
          <p:nvPr/>
        </p:nvSpPr>
        <p:spPr>
          <a:xfrm>
            <a:off x="2123728" y="5470671"/>
            <a:ext cx="59223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en-US" altLang="zh-CN" sz="2800" b="1" i="1" dirty="0">
                <a:solidFill>
                  <a:srgbClr val="FF0000"/>
                </a:solidFill>
              </a:rPr>
              <a:t>f =</a:t>
            </a:r>
            <a:r>
              <a:rPr lang="en-US" altLang="zh-CN" sz="2800" b="1" dirty="0">
                <a:solidFill>
                  <a:srgbClr val="FF0000"/>
                </a:solidFill>
              </a:rPr>
              <a:t> 0 </a:t>
            </a:r>
            <a:r>
              <a:rPr lang="zh-CN" altLang="en-US" sz="2800" b="1" dirty="0">
                <a:solidFill>
                  <a:srgbClr val="FF0000"/>
                </a:solidFill>
              </a:rPr>
              <a:t>无解 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en-US" altLang="zh-CN" sz="2800" b="1" i="1" dirty="0">
                <a:solidFill>
                  <a:srgbClr val="FF0000"/>
                </a:solidFill>
              </a:rPr>
              <a:t>y’ =</a:t>
            </a:r>
            <a:r>
              <a:rPr lang="en-US" altLang="zh-CN" sz="2800" b="1" dirty="0">
                <a:solidFill>
                  <a:srgbClr val="FF0000"/>
                </a:solidFill>
              </a:rPr>
              <a:t> 0</a:t>
            </a:r>
            <a:r>
              <a:rPr lang="zh-CN" altLang="en-US" sz="2800" b="1" dirty="0">
                <a:solidFill>
                  <a:srgbClr val="FF0000"/>
                </a:solidFill>
              </a:rPr>
              <a:t>无解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en-US" altLang="zh-CN" sz="2800" b="1" i="1" dirty="0">
                <a:solidFill>
                  <a:srgbClr val="FF0000"/>
                </a:solidFill>
              </a:rPr>
              <a:t>y</a:t>
            </a:r>
            <a:r>
              <a:rPr lang="zh-CN" altLang="en-US" sz="2800" b="1" dirty="0">
                <a:solidFill>
                  <a:srgbClr val="FF0000"/>
                </a:solidFill>
              </a:rPr>
              <a:t>单减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4772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13" grpId="0"/>
      <p:bldP spid="14" grpId="0"/>
      <p:bldP spid="15" grpId="0"/>
      <p:bldP spid="16" grpId="0"/>
      <p:bldP spid="17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7832" y="468281"/>
            <a:ext cx="2016225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/>
              <a:t>模型分析 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291069" y="1108322"/>
            <a:ext cx="4974439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混检一定能够</a:t>
            </a:r>
            <a:r>
              <a:rPr lang="zh-CN" altLang="en-US" sz="2800" b="1" dirty="0">
                <a:solidFill>
                  <a:srgbClr val="FF0000"/>
                </a:solidFill>
              </a:rPr>
              <a:t>提高效率</a:t>
            </a:r>
            <a:r>
              <a:rPr lang="zh-CN" altLang="en-US" sz="2800" b="1" dirty="0"/>
              <a:t>吗？</a:t>
            </a:r>
            <a:endParaRPr lang="en-US" altLang="zh-CN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79808" y="1746176"/>
            <a:ext cx="4985700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 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多大</a:t>
            </a:r>
            <a:r>
              <a:rPr lang="en-US" altLang="zh-CN" sz="2800" b="1" i="1" dirty="0"/>
              <a:t>, </a:t>
            </a:r>
            <a:r>
              <a:rPr lang="zh-CN" altLang="en-US" sz="2800" b="1" dirty="0"/>
              <a:t>就不应采用</a:t>
            </a:r>
            <a:r>
              <a:rPr lang="zh-CN" altLang="en-US" sz="2800" b="1" dirty="0">
                <a:solidFill>
                  <a:srgbClr val="FF0000"/>
                </a:solidFill>
              </a:rPr>
              <a:t>混检方案</a:t>
            </a:r>
            <a:r>
              <a:rPr lang="en-US" altLang="zh-CN" sz="2800" b="1" dirty="0">
                <a:solidFill>
                  <a:srgbClr val="FF0000"/>
                </a:solidFill>
              </a:rPr>
              <a:t>?</a:t>
            </a:r>
          </a:p>
          <a:p>
            <a:pPr algn="l">
              <a:lnSpc>
                <a:spcPct val="120000"/>
              </a:lnSpc>
            </a:pPr>
            <a:r>
              <a:rPr lang="en-US" altLang="zh-CN" sz="2800" b="1" dirty="0"/>
              <a:t>(</a:t>
            </a:r>
            <a:r>
              <a:rPr lang="zh-CN" altLang="en-US" sz="2800" b="1" dirty="0"/>
              <a:t>平均每人检测次数</a:t>
            </a:r>
            <a:r>
              <a:rPr lang="en-US" altLang="zh-CN" sz="2800" b="1" i="1" dirty="0"/>
              <a:t>y</a:t>
            </a:r>
            <a:r>
              <a:rPr lang="zh-CN" altLang="en-US" sz="2800" b="1" dirty="0"/>
              <a:t>不小于</a:t>
            </a:r>
            <a:r>
              <a:rPr lang="en-US" altLang="zh-CN" sz="2800" b="1" dirty="0"/>
              <a:t>1)</a:t>
            </a:r>
            <a:endParaRPr lang="zh-CN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626242" y="467912"/>
            <a:ext cx="361856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b="1" i="1" dirty="0">
                <a:solidFill>
                  <a:srgbClr val="FF0000"/>
                </a:solidFill>
              </a:rPr>
              <a:t>y =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i="1" dirty="0">
                <a:solidFill>
                  <a:srgbClr val="FF0000"/>
                </a:solidFill>
              </a:rPr>
              <a:t>+</a:t>
            </a:r>
            <a:r>
              <a:rPr lang="en-US" altLang="zh-CN" b="1" dirty="0">
                <a:solidFill>
                  <a:srgbClr val="FF0000"/>
                </a:solidFill>
              </a:rPr>
              <a:t>1/</a:t>
            </a:r>
            <a:r>
              <a:rPr lang="en-US" altLang="zh-CN" b="1" i="1" dirty="0">
                <a:solidFill>
                  <a:srgbClr val="FF0000"/>
                </a:solidFill>
              </a:rPr>
              <a:t>k </a:t>
            </a:r>
            <a:r>
              <a:rPr lang="en-US" altLang="zh-CN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b="1" dirty="0">
                <a:solidFill>
                  <a:srgbClr val="FF0000"/>
                </a:solidFill>
              </a:rPr>
              <a:t>(1</a:t>
            </a:r>
            <a:r>
              <a:rPr lang="en-US" altLang="zh-CN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b="1" i="1" dirty="0">
                <a:solidFill>
                  <a:srgbClr val="FF0000"/>
                </a:solidFill>
              </a:rPr>
              <a:t>p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en-US" altLang="zh-CN" b="1" i="1" baseline="30000" dirty="0">
                <a:solidFill>
                  <a:srgbClr val="FF0000"/>
                </a:solidFill>
              </a:rPr>
              <a:t>k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1721" y="2987511"/>
            <a:ext cx="381642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i="1" dirty="0"/>
              <a:t>y=</a:t>
            </a:r>
            <a:r>
              <a:rPr lang="en-US" altLang="zh-CN" sz="2800" b="1" dirty="0"/>
              <a:t>1</a:t>
            </a:r>
            <a:r>
              <a:rPr lang="en-US" altLang="zh-CN" sz="2800" b="1" i="1" dirty="0"/>
              <a:t>+</a:t>
            </a:r>
            <a:r>
              <a:rPr lang="en-US" altLang="zh-CN" sz="2800" b="1" dirty="0"/>
              <a:t>1/</a:t>
            </a:r>
            <a:r>
              <a:rPr lang="en-US" altLang="zh-CN" sz="2800" b="1" i="1" dirty="0"/>
              <a:t>k 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</a:t>
            </a:r>
            <a:r>
              <a:rPr lang="en-US" altLang="zh-CN" sz="2800" b="1" i="1" baseline="30000" dirty="0"/>
              <a:t>k</a:t>
            </a:r>
            <a:r>
              <a:rPr lang="en-US" altLang="zh-CN" sz="2800" b="1" i="1" dirty="0"/>
              <a:t> ≥ </a:t>
            </a:r>
            <a:r>
              <a:rPr lang="en-US" altLang="zh-CN" sz="2800" b="1" dirty="0"/>
              <a:t>1</a:t>
            </a:r>
            <a:endParaRPr lang="zh-CN" alt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51520" y="4713042"/>
            <a:ext cx="8812206" cy="109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检查</a:t>
            </a:r>
            <a:r>
              <a:rPr lang="en-US" altLang="zh-CN" sz="2800" b="1" i="1" dirty="0"/>
              <a:t>k=</a:t>
            </a:r>
            <a:r>
              <a:rPr lang="en-US" altLang="zh-CN" sz="2800" b="1" dirty="0"/>
              <a:t>2, 3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     1</a:t>
            </a:r>
            <a:r>
              <a:rPr lang="en-US" altLang="zh-CN" sz="2800" b="1" dirty="0">
                <a:latin typeface="华文宋体"/>
                <a:ea typeface="华文宋体"/>
              </a:rPr>
              <a:t> − </a:t>
            </a:r>
            <a:r>
              <a:rPr lang="en-US" altLang="zh-CN" sz="2800" b="1" dirty="0"/>
              <a:t>2</a:t>
            </a:r>
            <a:r>
              <a:rPr lang="en-US" altLang="zh-CN" sz="2800" b="1" i="1" baseline="30000" dirty="0"/>
              <a:t>-</a:t>
            </a:r>
            <a:r>
              <a:rPr lang="en-US" altLang="zh-CN" sz="2800" b="1" baseline="30000" dirty="0"/>
              <a:t>1/2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solidFill>
                  <a:srgbClr val="FF0000"/>
                </a:solidFill>
              </a:rPr>
              <a:t>0.2929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 0.29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                           1</a:t>
            </a:r>
            <a:r>
              <a:rPr lang="en-US" altLang="zh-CN" sz="2800" b="1" dirty="0">
                <a:latin typeface="华文宋体"/>
                <a:ea typeface="华文宋体"/>
              </a:rPr>
              <a:t> − </a:t>
            </a:r>
            <a:r>
              <a:rPr lang="en-US" altLang="zh-CN" sz="2800" b="1" dirty="0"/>
              <a:t>3</a:t>
            </a:r>
            <a:r>
              <a:rPr lang="en-US" altLang="zh-CN" sz="2800" b="1" i="1" baseline="30000" dirty="0"/>
              <a:t>-</a:t>
            </a:r>
            <a:r>
              <a:rPr lang="en-US" altLang="zh-CN" sz="2800" b="1" baseline="30000" dirty="0"/>
              <a:t>1/3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solidFill>
                  <a:srgbClr val="FF0000"/>
                </a:solidFill>
              </a:rPr>
              <a:t>0.3066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solidFill>
                  <a:srgbClr val="FF0000"/>
                </a:solidFill>
              </a:rPr>
              <a:t>0.307</a:t>
            </a:r>
            <a:endParaRPr lang="zh-CN" altLang="en-US" sz="2800" b="1" dirty="0"/>
          </a:p>
        </p:txBody>
      </p:sp>
      <p:grpSp>
        <p:nvGrpSpPr>
          <p:cNvPr id="15" name="组合 14"/>
          <p:cNvGrpSpPr/>
          <p:nvPr/>
        </p:nvGrpSpPr>
        <p:grpSpPr>
          <a:xfrm>
            <a:off x="611560" y="3762695"/>
            <a:ext cx="2592288" cy="609398"/>
            <a:chOff x="4824028" y="3098009"/>
            <a:chExt cx="2592288" cy="609398"/>
          </a:xfrm>
        </p:grpSpPr>
        <p:sp>
          <p:nvSpPr>
            <p:cNvPr id="9" name="TextBox 8"/>
            <p:cNvSpPr txBox="1"/>
            <p:nvPr/>
          </p:nvSpPr>
          <p:spPr>
            <a:xfrm>
              <a:off x="5353350" y="3098009"/>
              <a:ext cx="2062966" cy="60939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2800" b="1" i="1" dirty="0"/>
                <a:t>p ≥ </a:t>
              </a:r>
              <a:r>
                <a:rPr lang="en-US" altLang="zh-CN" sz="2800" b="1" dirty="0"/>
                <a:t>1</a:t>
              </a:r>
              <a:r>
                <a:rPr lang="en-US" altLang="zh-CN" sz="2800" b="1" dirty="0">
                  <a:latin typeface="华文宋体"/>
                  <a:ea typeface="华文宋体"/>
                </a:rPr>
                <a:t> − </a:t>
              </a:r>
              <a:r>
                <a:rPr lang="en-US" altLang="zh-CN" sz="2800" b="1" i="1" dirty="0"/>
                <a:t>k </a:t>
              </a:r>
              <a:r>
                <a:rPr lang="en-US" altLang="zh-CN" sz="2800" b="1" i="1" baseline="30000" dirty="0"/>
                <a:t>-</a:t>
              </a:r>
              <a:r>
                <a:rPr lang="en-US" altLang="zh-CN" sz="2800" b="1" baseline="30000" dirty="0"/>
                <a:t>1/</a:t>
              </a:r>
              <a:r>
                <a:rPr lang="en-US" altLang="zh-CN" sz="2800" b="1" i="1" baseline="30000" dirty="0"/>
                <a:t>k</a:t>
              </a:r>
              <a:r>
                <a:rPr lang="en-US" altLang="zh-CN" sz="2800" b="1" i="1" dirty="0"/>
                <a:t> </a:t>
              </a:r>
              <a:endParaRPr lang="zh-CN" altLang="en-US" sz="2800" b="1" dirty="0"/>
            </a:p>
          </p:txBody>
        </p:sp>
        <p:sp>
          <p:nvSpPr>
            <p:cNvPr id="11" name="右箭头 10"/>
            <p:cNvSpPr/>
            <p:nvPr/>
          </p:nvSpPr>
          <p:spPr bwMode="auto">
            <a:xfrm>
              <a:off x="4824028" y="3160392"/>
              <a:ext cx="144016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083785" y="1309955"/>
            <a:ext cx="4035152" cy="3026364"/>
            <a:chOff x="5083785" y="1309955"/>
            <a:chExt cx="4035152" cy="30263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83785" y="1309955"/>
              <a:ext cx="4035152" cy="3026364"/>
            </a:xfrm>
            <a:prstGeom prst="rect">
              <a:avLst/>
            </a:prstGeom>
          </p:spPr>
        </p:pic>
        <p:sp>
          <p:nvSpPr>
            <p:cNvPr id="16" name="TextBox 5"/>
            <p:cNvSpPr txBox="1"/>
            <p:nvPr/>
          </p:nvSpPr>
          <p:spPr>
            <a:xfrm>
              <a:off x="5762233" y="1602900"/>
              <a:ext cx="2305141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 dirty="0">
                  <a:solidFill>
                    <a:schemeClr val="accent2"/>
                  </a:solidFill>
                </a:rPr>
                <a:t>1</a:t>
              </a:r>
              <a:r>
                <a:rPr lang="en-US" altLang="zh-CN" sz="2800" b="1" dirty="0">
                  <a:solidFill>
                    <a:schemeClr val="accent2"/>
                  </a:solidFill>
                  <a:latin typeface="华文宋体"/>
                  <a:ea typeface="华文宋体"/>
                </a:rPr>
                <a:t> − </a:t>
              </a:r>
              <a:r>
                <a:rPr lang="en-US" altLang="zh-CN" sz="2800" b="1" i="1" dirty="0">
                  <a:solidFill>
                    <a:schemeClr val="accent2"/>
                  </a:solidFill>
                </a:rPr>
                <a:t>k </a:t>
              </a:r>
              <a:r>
                <a:rPr lang="en-US" altLang="zh-CN" sz="2800" b="1" i="1" baseline="30000" dirty="0">
                  <a:solidFill>
                    <a:schemeClr val="accent2"/>
                  </a:solidFill>
                </a:rPr>
                <a:t>-</a:t>
              </a:r>
              <a:r>
                <a:rPr lang="en-US" altLang="zh-CN" sz="2800" b="1" baseline="30000" dirty="0">
                  <a:solidFill>
                    <a:schemeClr val="accent2"/>
                  </a:solidFill>
                </a:rPr>
                <a:t>1/</a:t>
              </a:r>
              <a:r>
                <a:rPr lang="en-US" altLang="zh-CN" sz="2800" b="1" i="1" baseline="30000" dirty="0">
                  <a:solidFill>
                    <a:schemeClr val="accent2"/>
                  </a:solidFill>
                </a:rPr>
                <a:t>k</a:t>
              </a:r>
              <a:endParaRPr lang="zh-CN" altLang="en-US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7" name="TextBox 5"/>
            <p:cNvSpPr txBox="1"/>
            <p:nvPr/>
          </p:nvSpPr>
          <p:spPr>
            <a:xfrm>
              <a:off x="5747426" y="2852936"/>
              <a:ext cx="2880319" cy="1076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 dirty="0">
                  <a:solidFill>
                    <a:schemeClr val="accent2"/>
                  </a:solidFill>
                  <a:latin typeface="华文宋体"/>
                  <a:ea typeface="华文宋体"/>
                </a:rPr>
                <a:t> </a:t>
              </a:r>
              <a:r>
                <a:rPr lang="zh-CN" altLang="en-US" sz="2800" b="1" dirty="0">
                  <a:solidFill>
                    <a:schemeClr val="accent2"/>
                  </a:solidFill>
                  <a:latin typeface="华文宋体"/>
                  <a:ea typeface="华文宋体"/>
                </a:rPr>
                <a:t>凹函数，</a:t>
              </a:r>
              <a:endParaRPr lang="en-US" altLang="zh-CN" sz="2800" b="1" dirty="0">
                <a:solidFill>
                  <a:schemeClr val="accent2"/>
                </a:solidFill>
                <a:latin typeface="华文宋体"/>
                <a:ea typeface="华文宋体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800" b="1" i="1" dirty="0">
                  <a:solidFill>
                    <a:schemeClr val="accent2"/>
                  </a:solidFill>
                </a:rPr>
                <a:t>k = e </a:t>
              </a:r>
              <a:r>
                <a:rPr lang="zh-CN" altLang="en-US" sz="2800" b="1" dirty="0">
                  <a:solidFill>
                    <a:schemeClr val="accent2"/>
                  </a:solidFill>
                </a:rPr>
                <a:t>取到最大值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699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01127" y="783914"/>
            <a:ext cx="4305672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仅考虑</a:t>
            </a:r>
            <a:r>
              <a:rPr lang="zh-CN" altLang="en-US" sz="2800" b="1" dirty="0">
                <a:latin typeface="+mn-ea"/>
                <a:ea typeface="+mn-ea"/>
              </a:rPr>
              <a:t>“</a:t>
            </a:r>
            <a:r>
              <a:rPr lang="en-US" altLang="zh-CN" sz="2800" b="1" i="1" dirty="0">
                <a:latin typeface="+mn-lt"/>
                <a:ea typeface="+mn-ea"/>
              </a:rPr>
              <a:t>k</a:t>
            </a:r>
            <a:r>
              <a:rPr lang="zh-CN" altLang="en-US" sz="2800" b="1" dirty="0">
                <a:latin typeface="+mn-ea"/>
                <a:ea typeface="+mn-ea"/>
              </a:rPr>
              <a:t>合</a:t>
            </a:r>
            <a:r>
              <a:rPr lang="en-US" altLang="zh-CN" sz="2800" b="1" dirty="0">
                <a:latin typeface="+mn-ea"/>
                <a:ea typeface="+mn-ea"/>
              </a:rPr>
              <a:t>1</a:t>
            </a:r>
            <a:r>
              <a:rPr lang="zh-CN" altLang="en-US" sz="2800" b="1" dirty="0">
                <a:latin typeface="+mn-ea"/>
                <a:ea typeface="+mn-ea"/>
              </a:rPr>
              <a:t>”混检方案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325935" y="3022625"/>
            <a:ext cx="69916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/>
              <a:t>若 </a:t>
            </a:r>
            <a:r>
              <a:rPr lang="en-US" altLang="zh-CN" sz="2600" b="1" i="1" dirty="0"/>
              <a:t>p </a:t>
            </a:r>
            <a:r>
              <a:rPr lang="en-US" altLang="zh-CN" sz="2600" b="1" dirty="0"/>
              <a:t>&gt; 1</a:t>
            </a:r>
            <a:r>
              <a:rPr lang="en-US" altLang="zh-CN" sz="2600" b="1" dirty="0">
                <a:latin typeface="华文宋体"/>
                <a:ea typeface="华文宋体"/>
              </a:rPr>
              <a:t> − </a:t>
            </a:r>
            <a:r>
              <a:rPr lang="en-US" altLang="zh-CN" sz="2600" b="1" dirty="0"/>
              <a:t>2</a:t>
            </a:r>
            <a:r>
              <a:rPr lang="en-US" altLang="zh-CN" sz="2600" b="1" i="1" baseline="30000" dirty="0"/>
              <a:t>-</a:t>
            </a:r>
            <a:r>
              <a:rPr lang="en-US" altLang="zh-CN" sz="2600" b="1" baseline="30000" dirty="0"/>
              <a:t>1/2 </a:t>
            </a:r>
            <a:r>
              <a:rPr lang="en-US" altLang="zh-CN" sz="26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600" b="1" dirty="0">
                <a:solidFill>
                  <a:srgbClr val="FF0000"/>
                </a:solidFill>
              </a:rPr>
              <a:t>0.293</a:t>
            </a:r>
            <a:r>
              <a:rPr lang="zh-CN" altLang="en-US" sz="2600" b="1" dirty="0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r>
              <a:rPr lang="zh-CN" altLang="en-US" sz="2600" b="1" dirty="0"/>
              <a:t>不应采用混检方案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325935" y="3914899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/>
              <a:t>若 </a:t>
            </a:r>
            <a:r>
              <a:rPr lang="en-US" altLang="zh-CN" sz="2600" b="1" i="1" dirty="0"/>
              <a:t>p </a:t>
            </a:r>
            <a:r>
              <a:rPr lang="en-US" altLang="zh-CN" sz="2600" b="1" dirty="0"/>
              <a:t>&gt; 1</a:t>
            </a:r>
            <a:r>
              <a:rPr lang="en-US" altLang="zh-CN" sz="2600" b="1" dirty="0">
                <a:latin typeface="华文宋体"/>
                <a:ea typeface="华文宋体"/>
              </a:rPr>
              <a:t> − </a:t>
            </a:r>
            <a:r>
              <a:rPr lang="en-US" altLang="zh-CN" sz="2600" b="1" dirty="0"/>
              <a:t>3</a:t>
            </a:r>
            <a:r>
              <a:rPr lang="en-US" altLang="zh-CN" sz="2600" b="1" i="1" baseline="30000" dirty="0"/>
              <a:t>-</a:t>
            </a:r>
            <a:r>
              <a:rPr lang="en-US" altLang="zh-CN" sz="2600" b="1" baseline="30000" dirty="0"/>
              <a:t>1/3 </a:t>
            </a:r>
            <a:r>
              <a:rPr lang="en-US" altLang="zh-CN" sz="26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600" b="1" dirty="0">
                <a:solidFill>
                  <a:srgbClr val="FF0000"/>
                </a:solidFill>
              </a:rPr>
              <a:t>0.307</a:t>
            </a:r>
            <a:r>
              <a:rPr lang="zh-CN" altLang="en-US" sz="2600" b="1" dirty="0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r>
              <a:rPr lang="zh-CN" altLang="en-US" sz="2600" b="1" dirty="0"/>
              <a:t>不应采用混检方案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611560" y="3086918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2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611560" y="3944168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2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611560" y="4801418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2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611560" y="5658668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2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5867137" y="620688"/>
            <a:ext cx="3322801" cy="2333358"/>
            <a:chOff x="5170009" y="835380"/>
            <a:chExt cx="4035152" cy="3026364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170009" y="835380"/>
              <a:ext cx="4035152" cy="3026364"/>
            </a:xfrm>
            <a:prstGeom prst="rect">
              <a:avLst/>
            </a:prstGeom>
          </p:spPr>
        </p:pic>
        <p:sp>
          <p:nvSpPr>
            <p:cNvPr id="21" name="TextBox 5"/>
            <p:cNvSpPr txBox="1"/>
            <p:nvPr/>
          </p:nvSpPr>
          <p:spPr>
            <a:xfrm>
              <a:off x="5733802" y="993615"/>
              <a:ext cx="2305141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 dirty="0">
                  <a:solidFill>
                    <a:schemeClr val="accent2"/>
                  </a:solidFill>
                </a:rPr>
                <a:t>1</a:t>
              </a:r>
              <a:r>
                <a:rPr lang="en-US" altLang="zh-CN" sz="2800" b="1" dirty="0">
                  <a:solidFill>
                    <a:schemeClr val="accent2"/>
                  </a:solidFill>
                  <a:latin typeface="华文宋体"/>
                  <a:ea typeface="华文宋体"/>
                </a:rPr>
                <a:t> − </a:t>
              </a:r>
              <a:r>
                <a:rPr lang="en-US" altLang="zh-CN" sz="2800" b="1" i="1" dirty="0">
                  <a:solidFill>
                    <a:schemeClr val="accent2"/>
                  </a:solidFill>
                </a:rPr>
                <a:t>k </a:t>
              </a:r>
              <a:r>
                <a:rPr lang="en-US" altLang="zh-CN" sz="2800" b="1" i="1" baseline="30000" dirty="0">
                  <a:solidFill>
                    <a:schemeClr val="accent2"/>
                  </a:solidFill>
                </a:rPr>
                <a:t>-</a:t>
              </a:r>
              <a:r>
                <a:rPr lang="en-US" altLang="zh-CN" sz="2800" b="1" baseline="30000" dirty="0">
                  <a:solidFill>
                    <a:schemeClr val="accent2"/>
                  </a:solidFill>
                </a:rPr>
                <a:t>1/</a:t>
              </a:r>
              <a:r>
                <a:rPr lang="en-US" altLang="zh-CN" sz="2800" b="1" i="1" baseline="30000" dirty="0">
                  <a:solidFill>
                    <a:schemeClr val="accent2"/>
                  </a:solidFill>
                </a:rPr>
                <a:t>k</a:t>
              </a:r>
              <a:endParaRPr lang="zh-CN" altLang="en-US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22" name="TextBox 5"/>
            <p:cNvSpPr txBox="1"/>
            <p:nvPr/>
          </p:nvSpPr>
          <p:spPr>
            <a:xfrm>
              <a:off x="5876169" y="1859461"/>
              <a:ext cx="3273206" cy="1461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 dirty="0">
                  <a:solidFill>
                    <a:schemeClr val="accent2"/>
                  </a:solidFill>
                  <a:latin typeface="华文宋体"/>
                  <a:ea typeface="华文宋体"/>
                </a:rPr>
                <a:t> </a:t>
              </a:r>
              <a:r>
                <a:rPr lang="zh-CN" altLang="en-US" sz="2800" b="1" dirty="0">
                  <a:solidFill>
                    <a:schemeClr val="accent2"/>
                  </a:solidFill>
                  <a:latin typeface="华文宋体"/>
                  <a:ea typeface="华文宋体"/>
                </a:rPr>
                <a:t>凹函数，</a:t>
              </a:r>
              <a:endParaRPr lang="en-US" altLang="zh-CN" sz="2800" b="1" dirty="0">
                <a:solidFill>
                  <a:schemeClr val="accent2"/>
                </a:solidFill>
                <a:latin typeface="华文宋体"/>
                <a:ea typeface="华文宋体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800" b="1" i="1" dirty="0">
                  <a:solidFill>
                    <a:schemeClr val="accent2"/>
                  </a:solidFill>
                </a:rPr>
                <a:t>k = e </a:t>
              </a:r>
              <a:r>
                <a:rPr lang="zh-CN" altLang="en-US" sz="2800" b="1" dirty="0">
                  <a:solidFill>
                    <a:schemeClr val="accent2"/>
                  </a:solidFill>
                </a:rPr>
                <a:t>取最大值</a:t>
              </a:r>
            </a:p>
          </p:txBody>
        </p:sp>
      </p:grp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1259632" y="5594374"/>
            <a:ext cx="769106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/>
              <a:t>若 </a:t>
            </a:r>
            <a:r>
              <a:rPr lang="en-US" altLang="zh-CN" sz="2600" b="1" i="1" dirty="0"/>
              <a:t>p </a:t>
            </a:r>
            <a:r>
              <a:rPr lang="en-US" altLang="zh-CN" sz="2600" b="1" dirty="0"/>
              <a:t>&gt; 1</a:t>
            </a:r>
            <a:r>
              <a:rPr lang="en-US" altLang="zh-CN" sz="2600" b="1" dirty="0">
                <a:latin typeface="华文宋体"/>
                <a:ea typeface="华文宋体"/>
              </a:rPr>
              <a:t> − </a:t>
            </a:r>
            <a:r>
              <a:rPr lang="en-US" altLang="zh-CN" sz="2600" b="1" dirty="0"/>
              <a:t>3</a:t>
            </a:r>
            <a:r>
              <a:rPr lang="en-US" altLang="zh-CN" sz="2600" b="1" i="1" baseline="30000" dirty="0"/>
              <a:t>-</a:t>
            </a:r>
            <a:r>
              <a:rPr lang="en-US" altLang="zh-CN" sz="2600" b="1" baseline="30000" dirty="0"/>
              <a:t>1/3 </a:t>
            </a:r>
            <a:r>
              <a:rPr lang="en-US" altLang="zh-CN" sz="26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600" b="1" dirty="0">
                <a:solidFill>
                  <a:srgbClr val="FF0000"/>
                </a:solidFill>
              </a:rPr>
              <a:t>0.307</a:t>
            </a:r>
            <a:r>
              <a:rPr lang="zh-CN" altLang="en-US" sz="2600" b="1" dirty="0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r>
              <a:rPr lang="zh-CN" altLang="en-US" sz="2600" b="1" dirty="0"/>
              <a:t>不应采用“</a:t>
            </a:r>
            <a:r>
              <a:rPr lang="en-US" altLang="zh-CN" sz="2600" b="1" dirty="0"/>
              <a:t>3</a:t>
            </a:r>
            <a:r>
              <a:rPr lang="zh-CN" altLang="en-US" sz="2600" b="1" dirty="0"/>
              <a:t>合</a:t>
            </a:r>
            <a:r>
              <a:rPr lang="en-US" altLang="zh-CN" sz="2600" b="1" dirty="0"/>
              <a:t>1</a:t>
            </a:r>
            <a:r>
              <a:rPr lang="zh-CN" altLang="en-US" sz="2600" b="1" dirty="0"/>
              <a:t>”混检方案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1260822" y="4801418"/>
            <a:ext cx="775617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/>
              <a:t>若 </a:t>
            </a:r>
            <a:r>
              <a:rPr lang="en-US" altLang="zh-CN" sz="2600" b="1" i="1" dirty="0"/>
              <a:t>p </a:t>
            </a:r>
            <a:r>
              <a:rPr lang="en-US" altLang="zh-CN" sz="2600" b="1" dirty="0"/>
              <a:t>&gt; 1</a:t>
            </a:r>
            <a:r>
              <a:rPr lang="en-US" altLang="zh-CN" sz="2600" b="1" dirty="0">
                <a:latin typeface="华文宋体"/>
                <a:ea typeface="华文宋体"/>
              </a:rPr>
              <a:t> − </a:t>
            </a:r>
            <a:r>
              <a:rPr lang="en-US" altLang="zh-CN" sz="2600" b="1" dirty="0"/>
              <a:t>2</a:t>
            </a:r>
            <a:r>
              <a:rPr lang="en-US" altLang="zh-CN" sz="2600" b="1" i="1" baseline="30000" dirty="0"/>
              <a:t>-</a:t>
            </a:r>
            <a:r>
              <a:rPr lang="en-US" altLang="zh-CN" sz="2600" b="1" baseline="30000" dirty="0"/>
              <a:t>1/2 </a:t>
            </a:r>
            <a:r>
              <a:rPr lang="en-US" altLang="zh-CN" sz="26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600" b="1" dirty="0">
                <a:solidFill>
                  <a:srgbClr val="FF0000"/>
                </a:solidFill>
              </a:rPr>
              <a:t>0.293</a:t>
            </a:r>
            <a:r>
              <a:rPr lang="zh-CN" altLang="en-US" sz="2600" b="1" dirty="0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r>
              <a:rPr lang="zh-CN" altLang="en-US" sz="2600" b="1" dirty="0"/>
              <a:t>不应采用“</a:t>
            </a:r>
            <a:r>
              <a:rPr lang="en-US" altLang="zh-CN" sz="2600" b="1" dirty="0"/>
              <a:t>2</a:t>
            </a:r>
            <a:r>
              <a:rPr lang="zh-CN" altLang="en-US" sz="2600" b="1" dirty="0"/>
              <a:t>合</a:t>
            </a:r>
            <a:r>
              <a:rPr lang="en-US" altLang="zh-CN" sz="2600" b="1" dirty="0"/>
              <a:t>1</a:t>
            </a:r>
            <a:r>
              <a:rPr lang="zh-CN" altLang="en-US" sz="2600" b="1" dirty="0"/>
              <a:t>”混检方案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2924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9550" y="2844109"/>
            <a:ext cx="384839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平均每人检测次数最少</a:t>
            </a:r>
            <a:endParaRPr lang="zh-CN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98423" y="1517770"/>
            <a:ext cx="36185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T =</a:t>
            </a:r>
            <a:r>
              <a:rPr lang="en-US" altLang="zh-CN" sz="2800" b="1" dirty="0">
                <a:solidFill>
                  <a:srgbClr val="FF0000"/>
                </a:solidFill>
              </a:rPr>
              <a:t> [1</a:t>
            </a:r>
            <a:r>
              <a:rPr lang="en-US" altLang="zh-CN" sz="2800" b="1" i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</a:rPr>
              <a:t>]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796600"/>
              </p:ext>
            </p:extLst>
          </p:nvPr>
        </p:nvGraphicFramePr>
        <p:xfrm>
          <a:off x="184053" y="4115405"/>
          <a:ext cx="4496466" cy="128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5%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2%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k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~5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T/n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0.426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0.274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0.196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4"/>
          <p:cNvSpPr txBox="1"/>
          <p:nvPr/>
        </p:nvSpPr>
        <p:spPr>
          <a:xfrm>
            <a:off x="184053" y="2081293"/>
            <a:ext cx="3739875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y = 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i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387" y="395953"/>
            <a:ext cx="4365117" cy="32738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矩形 9"/>
          <p:cNvSpPr/>
          <p:nvPr/>
        </p:nvSpPr>
        <p:spPr>
          <a:xfrm>
            <a:off x="98423" y="373776"/>
            <a:ext cx="4208434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/>
              <a:t>模型求解：混检方案</a:t>
            </a:r>
            <a:endParaRPr lang="en-US" altLang="zh-CN" sz="3200" b="1" dirty="0"/>
          </a:p>
          <a:p>
            <a:r>
              <a:rPr lang="en-US" altLang="zh-CN" sz="3200" b="1" dirty="0"/>
              <a:t>            (</a:t>
            </a:r>
            <a:r>
              <a:rPr lang="zh-CN" altLang="en-US" sz="3200" b="1" dirty="0"/>
              <a:t>混检最优的</a:t>
            </a:r>
            <a:r>
              <a:rPr lang="en-US" altLang="zh-CN" sz="3200" b="1" i="1" dirty="0"/>
              <a:t>k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 </a:t>
            </a:r>
            <a:endParaRPr lang="zh-CN" altLang="en-US" sz="3200" dirty="0"/>
          </a:p>
        </p:txBody>
      </p:sp>
      <p:sp>
        <p:nvSpPr>
          <p:cNvPr id="12" name="矩形 11"/>
          <p:cNvSpPr/>
          <p:nvPr/>
        </p:nvSpPr>
        <p:spPr>
          <a:xfrm>
            <a:off x="219551" y="3553852"/>
            <a:ext cx="3200322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方法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：图解法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357" y="3531266"/>
            <a:ext cx="4376147" cy="3282110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61176"/>
              </p:ext>
            </p:extLst>
          </p:nvPr>
        </p:nvGraphicFramePr>
        <p:xfrm>
          <a:off x="184054" y="5519616"/>
          <a:ext cx="4496466" cy="128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0.003%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k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~32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~101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~183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T/n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0.063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0.020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42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29923" y="1302934"/>
            <a:ext cx="1533765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方法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r>
              <a:rPr lang="zh-CN" altLang="en-US" sz="2800" b="1" dirty="0"/>
              <a:t>近似，</a:t>
            </a:r>
            <a:endParaRPr lang="en-US" altLang="zh-CN" sz="2800" b="1" dirty="0"/>
          </a:p>
          <a:p>
            <a:r>
              <a:rPr lang="zh-CN" altLang="en-US" sz="2800" b="1" dirty="0"/>
              <a:t>解析解 </a:t>
            </a:r>
            <a:endParaRPr lang="zh-CN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292080" y="383641"/>
            <a:ext cx="361856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T =</a:t>
            </a:r>
            <a:r>
              <a:rPr lang="en-US" altLang="zh-CN" sz="2800" b="1" dirty="0">
                <a:solidFill>
                  <a:srgbClr val="FF0000"/>
                </a:solidFill>
              </a:rPr>
              <a:t> [1</a:t>
            </a:r>
            <a:r>
              <a:rPr lang="en-US" altLang="zh-CN" sz="2800" b="1" i="1" dirty="0">
                <a:solidFill>
                  <a:srgbClr val="FF0000"/>
                </a:solidFill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</a:rPr>
              <a:t>]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094670" y="1279855"/>
            <a:ext cx="6725802" cy="530799"/>
            <a:chOff x="1806638" y="1279855"/>
            <a:chExt cx="6725802" cy="530799"/>
          </a:xfrm>
        </p:grpSpPr>
        <p:sp>
          <p:nvSpPr>
            <p:cNvPr id="6" name="矩形 5"/>
            <p:cNvSpPr/>
            <p:nvPr/>
          </p:nvSpPr>
          <p:spPr>
            <a:xfrm>
              <a:off x="1806638" y="1279855"/>
              <a:ext cx="672580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2800" b="1" dirty="0"/>
                <a:t>模型简化：</a:t>
              </a:r>
              <a:r>
                <a:rPr lang="en-US" altLang="zh-CN" sz="2800" b="1" i="1" dirty="0"/>
                <a:t>p</a:t>
              </a:r>
              <a:r>
                <a:rPr lang="zh-CN" altLang="en-US" sz="2800" b="1" dirty="0"/>
                <a:t>很小                </a:t>
              </a:r>
              <a:r>
                <a:rPr lang="en-US" altLang="zh-CN" sz="2800" b="1" dirty="0"/>
                <a:t>(1</a:t>
              </a:r>
              <a:r>
                <a:rPr lang="en-US" altLang="zh-CN" sz="2800" b="1" dirty="0">
                  <a:latin typeface="华文宋体"/>
                  <a:ea typeface="华文宋体"/>
                </a:rPr>
                <a:t>−</a:t>
              </a:r>
              <a:r>
                <a:rPr lang="en-US" altLang="zh-CN" sz="2800" b="1" i="1" dirty="0"/>
                <a:t>p</a:t>
              </a:r>
              <a:r>
                <a:rPr lang="en-US" altLang="zh-CN" sz="2800" b="1" dirty="0"/>
                <a:t>)</a:t>
              </a:r>
              <a:r>
                <a:rPr lang="en-US" altLang="zh-CN" sz="2800" b="1" i="1" baseline="30000" dirty="0"/>
                <a:t>k</a:t>
              </a:r>
              <a:r>
                <a:rPr lang="en-US" altLang="zh-CN" sz="2800" b="1" dirty="0"/>
                <a:t>  </a:t>
              </a:r>
              <a:r>
                <a:rPr lang="en-US" altLang="zh-CN" sz="2800" b="1" dirty="0">
                  <a:sym typeface="Symbol"/>
                </a:rPr>
                <a:t></a:t>
              </a:r>
              <a:r>
                <a:rPr lang="en-US" altLang="zh-CN" sz="2800" b="1" i="1" dirty="0"/>
                <a:t> </a:t>
              </a:r>
              <a:r>
                <a:rPr lang="en-US" altLang="zh-CN" sz="2800" b="1" dirty="0"/>
                <a:t>(1</a:t>
              </a:r>
              <a:r>
                <a:rPr lang="en-US" altLang="zh-CN" sz="2800" b="1" dirty="0">
                  <a:latin typeface="华文宋体"/>
                  <a:ea typeface="华文宋体"/>
                </a:rPr>
                <a:t>−</a:t>
              </a:r>
              <a:r>
                <a:rPr lang="en-US" altLang="zh-CN" sz="2800" b="1" i="1" dirty="0"/>
                <a:t>kp</a:t>
              </a:r>
              <a:r>
                <a:rPr lang="en-US" altLang="zh-CN" sz="2800" b="1" dirty="0"/>
                <a:t>)</a:t>
              </a:r>
              <a:endParaRPr lang="zh-CN" altLang="en-US" sz="2800" dirty="0"/>
            </a:p>
          </p:txBody>
        </p:sp>
        <p:sp>
          <p:nvSpPr>
            <p:cNvPr id="7" name="右箭头 6"/>
            <p:cNvSpPr/>
            <p:nvPr/>
          </p:nvSpPr>
          <p:spPr bwMode="auto">
            <a:xfrm>
              <a:off x="4788024" y="1326022"/>
              <a:ext cx="144016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195736" y="1810654"/>
            <a:ext cx="6768752" cy="609398"/>
            <a:chOff x="1907704" y="1810654"/>
            <a:chExt cx="6768752" cy="609398"/>
          </a:xfrm>
        </p:grpSpPr>
        <p:sp>
          <p:nvSpPr>
            <p:cNvPr id="4" name="TextBox 3"/>
            <p:cNvSpPr txBox="1"/>
            <p:nvPr/>
          </p:nvSpPr>
          <p:spPr>
            <a:xfrm>
              <a:off x="2177574" y="1810654"/>
              <a:ext cx="6498882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altLang="zh-CN" sz="2800" b="1" i="1" dirty="0"/>
                <a:t>T</a:t>
              </a:r>
              <a:r>
                <a:rPr lang="en-US" altLang="zh-CN" sz="2800" b="1" dirty="0"/>
                <a:t> </a:t>
              </a:r>
              <a:r>
                <a:rPr lang="en-US" altLang="zh-CN" sz="2800" b="1" dirty="0">
                  <a:sym typeface="Symbol"/>
                </a:rPr>
                <a:t></a:t>
              </a:r>
              <a:r>
                <a:rPr lang="en-US" altLang="zh-CN" sz="2800" b="1" i="1" dirty="0"/>
                <a:t> </a:t>
              </a:r>
              <a:r>
                <a:rPr lang="en-US" altLang="zh-CN" sz="2800" b="1" dirty="0"/>
                <a:t>[1</a:t>
              </a:r>
              <a:r>
                <a:rPr lang="en-US" altLang="zh-CN" sz="2800" b="1" i="1" dirty="0"/>
                <a:t>+</a:t>
              </a:r>
              <a:r>
                <a:rPr lang="en-US" altLang="zh-CN" sz="2800" b="1" dirty="0"/>
                <a:t>1/</a:t>
              </a:r>
              <a:r>
                <a:rPr lang="en-US" altLang="zh-CN" sz="2800" b="1" i="1" dirty="0"/>
                <a:t>k </a:t>
              </a:r>
              <a:r>
                <a:rPr lang="en-US" altLang="zh-CN" sz="2800" b="1" dirty="0">
                  <a:latin typeface="华文宋体"/>
                  <a:ea typeface="华文宋体"/>
                </a:rPr>
                <a:t>−</a:t>
              </a:r>
              <a:r>
                <a:rPr lang="en-US" altLang="zh-CN" sz="2800" b="1" dirty="0"/>
                <a:t>(1</a:t>
              </a:r>
              <a:r>
                <a:rPr lang="en-US" altLang="zh-CN" sz="2800" b="1" dirty="0">
                  <a:latin typeface="华文宋体"/>
                  <a:ea typeface="华文宋体"/>
                </a:rPr>
                <a:t>−</a:t>
              </a:r>
              <a:r>
                <a:rPr lang="en-US" altLang="zh-CN" sz="2800" b="1" i="1" dirty="0"/>
                <a:t>kp</a:t>
              </a:r>
              <a:r>
                <a:rPr lang="en-US" altLang="zh-CN" sz="2800" b="1" dirty="0"/>
                <a:t>)]</a:t>
              </a:r>
              <a:r>
                <a:rPr lang="en-US" altLang="zh-CN" sz="2800" b="1" i="1" dirty="0"/>
                <a:t>n=</a:t>
              </a:r>
              <a:r>
                <a:rPr lang="en-US" altLang="zh-CN" sz="2800" b="1" dirty="0"/>
                <a:t> (1/</a:t>
              </a:r>
              <a:r>
                <a:rPr lang="en-US" altLang="zh-CN" sz="2800" b="1" i="1" dirty="0"/>
                <a:t>k </a:t>
              </a:r>
              <a:r>
                <a:rPr lang="en-US" altLang="zh-CN" sz="2800" b="1" dirty="0">
                  <a:latin typeface="华文宋体"/>
                  <a:ea typeface="华文宋体"/>
                </a:rPr>
                <a:t>+ </a:t>
              </a:r>
              <a:r>
                <a:rPr lang="en-US" altLang="zh-CN" sz="2800" b="1" i="1" dirty="0" err="1"/>
                <a:t>kp</a:t>
              </a:r>
              <a:r>
                <a:rPr lang="en-US" altLang="zh-CN" sz="2800" b="1" dirty="0"/>
                <a:t>)</a:t>
              </a:r>
              <a:r>
                <a:rPr lang="en-US" altLang="zh-CN" sz="2800" b="1" i="1" dirty="0"/>
                <a:t>n</a:t>
              </a:r>
              <a:endParaRPr lang="zh-CN" altLang="en-US" sz="2800" b="1" dirty="0"/>
            </a:p>
          </p:txBody>
        </p:sp>
        <p:sp>
          <p:nvSpPr>
            <p:cNvPr id="9" name="右箭头 8"/>
            <p:cNvSpPr/>
            <p:nvPr/>
          </p:nvSpPr>
          <p:spPr bwMode="auto">
            <a:xfrm>
              <a:off x="1907704" y="1864248"/>
              <a:ext cx="144016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195736" y="2420052"/>
            <a:ext cx="6714906" cy="609398"/>
            <a:chOff x="1907704" y="2420052"/>
            <a:chExt cx="6714906" cy="609398"/>
          </a:xfrm>
        </p:grpSpPr>
        <p:sp>
          <p:nvSpPr>
            <p:cNvPr id="8" name="TextBox 7"/>
            <p:cNvSpPr txBox="1"/>
            <p:nvPr/>
          </p:nvSpPr>
          <p:spPr>
            <a:xfrm>
              <a:off x="2175483" y="2420052"/>
              <a:ext cx="6447127" cy="6093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b="1" dirty="0"/>
                <a:t>当</a:t>
              </a:r>
              <a:r>
                <a:rPr lang="zh-CN" altLang="en-US" sz="2800" b="1" i="1" dirty="0"/>
                <a:t> </a:t>
              </a:r>
              <a:r>
                <a:rPr lang="en-US" altLang="zh-CN" sz="2800" b="1" i="1" dirty="0">
                  <a:solidFill>
                    <a:srgbClr val="FF0000"/>
                  </a:solidFill>
                </a:rPr>
                <a:t>k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 </a:t>
              </a:r>
              <a:r>
                <a:rPr lang="en-US" altLang="zh-CN" sz="2800" b="1" dirty="0">
                  <a:solidFill>
                    <a:srgbClr val="FF0000"/>
                  </a:solidFill>
                  <a:sym typeface="Symbol"/>
                </a:rPr>
                <a:t></a:t>
              </a:r>
              <a:r>
                <a:rPr lang="en-US" altLang="zh-CN" sz="2800" b="1" i="1" dirty="0">
                  <a:solidFill>
                    <a:srgbClr val="FF0000"/>
                  </a:solidFill>
                </a:rPr>
                <a:t> p </a:t>
              </a:r>
              <a:r>
                <a:rPr lang="en-US" altLang="zh-CN" sz="2800" b="1" i="1" baseline="30000" dirty="0">
                  <a:solidFill>
                    <a:srgbClr val="FF0000"/>
                  </a:solidFill>
                </a:rPr>
                <a:t>-</a:t>
              </a:r>
              <a:r>
                <a:rPr lang="en-US" altLang="zh-CN" sz="2800" b="1" baseline="30000" dirty="0">
                  <a:solidFill>
                    <a:srgbClr val="FF0000"/>
                  </a:solidFill>
                </a:rPr>
                <a:t>1/2  </a:t>
              </a:r>
              <a:r>
                <a:rPr lang="zh-CN" altLang="en-US" sz="2800" b="1" dirty="0"/>
                <a:t>时</a:t>
              </a:r>
              <a:r>
                <a:rPr lang="en-US" altLang="zh-CN" sz="2800" b="1" i="1" dirty="0"/>
                <a:t>T</a:t>
              </a:r>
              <a:r>
                <a:rPr lang="zh-CN" altLang="en-US" sz="2800" b="1" dirty="0"/>
                <a:t>最小 </a:t>
              </a:r>
              <a:r>
                <a:rPr lang="en-US" altLang="zh-CN" sz="2800" b="1" dirty="0"/>
                <a:t>(</a:t>
              </a:r>
              <a:r>
                <a:rPr lang="zh-CN" altLang="en-US" sz="2800" b="1" dirty="0"/>
                <a:t>取上下整数比较</a:t>
              </a:r>
              <a:r>
                <a:rPr lang="en-US" altLang="zh-CN" sz="2800" b="1" dirty="0"/>
                <a:t>)</a:t>
              </a:r>
              <a:r>
                <a:rPr lang="en-US" altLang="zh-CN" sz="2800" b="1" baseline="30000" dirty="0"/>
                <a:t> </a:t>
              </a:r>
              <a:endParaRPr lang="zh-CN" altLang="en-US" sz="2800" b="1" dirty="0"/>
            </a:p>
          </p:txBody>
        </p:sp>
        <p:sp>
          <p:nvSpPr>
            <p:cNvPr id="10" name="右箭头 9"/>
            <p:cNvSpPr/>
            <p:nvPr/>
          </p:nvSpPr>
          <p:spPr bwMode="auto">
            <a:xfrm>
              <a:off x="1907704" y="2544818"/>
              <a:ext cx="144016" cy="484632"/>
            </a:xfrm>
            <a:prstGeom prst="right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39552" y="5195865"/>
            <a:ext cx="820891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检测前</a:t>
            </a:r>
            <a:r>
              <a:rPr lang="zh-CN" altLang="en-US" sz="2800" b="1" dirty="0">
                <a:solidFill>
                  <a:srgbClr val="FF0000"/>
                </a:solidFill>
              </a:rPr>
              <a:t>小规模测试</a:t>
            </a:r>
            <a:r>
              <a:rPr lang="zh-CN" altLang="en-US" sz="2800" b="1" dirty="0"/>
              <a:t>用于估计</a:t>
            </a:r>
            <a:r>
              <a:rPr lang="zh-CN" altLang="en-US" sz="2800" b="1" dirty="0">
                <a:solidFill>
                  <a:srgbClr val="FF0000"/>
                </a:solidFill>
              </a:rPr>
              <a:t>阳性先验概率 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 </a:t>
            </a:r>
            <a:endParaRPr lang="zh-CN" alt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2440" y="5862780"/>
            <a:ext cx="820891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武汉检出率</a:t>
            </a:r>
            <a:r>
              <a:rPr lang="en-US" altLang="zh-CN" sz="2800" b="1" dirty="0"/>
              <a:t>0.303/</a:t>
            </a:r>
            <a:r>
              <a:rPr lang="zh-CN" altLang="en-US" sz="2800" b="1" dirty="0"/>
              <a:t>万，即</a:t>
            </a:r>
            <a:r>
              <a:rPr lang="zh-CN" altLang="en-US" sz="2800" b="1" dirty="0">
                <a:solidFill>
                  <a:srgbClr val="FF0000"/>
                </a:solidFill>
              </a:rPr>
              <a:t>阳性后验概率 </a:t>
            </a:r>
            <a:r>
              <a:rPr lang="en-US" altLang="zh-CN" sz="2800" b="1" i="1" dirty="0">
                <a:solidFill>
                  <a:srgbClr val="FF0000"/>
                </a:solidFill>
              </a:rPr>
              <a:t>p=</a:t>
            </a:r>
            <a:r>
              <a:rPr lang="en-US" altLang="zh-CN" sz="2800" b="1" dirty="0">
                <a:solidFill>
                  <a:srgbClr val="FF0000"/>
                </a:solidFill>
              </a:rPr>
              <a:t>0.003%</a:t>
            </a:r>
            <a:r>
              <a:rPr lang="zh-CN" altLang="en-US" sz="2800" b="1" dirty="0"/>
              <a:t> </a:t>
            </a:r>
          </a:p>
        </p:txBody>
      </p:sp>
      <p:sp>
        <p:nvSpPr>
          <p:cNvPr id="14" name="矩形 13"/>
          <p:cNvSpPr/>
          <p:nvPr/>
        </p:nvSpPr>
        <p:spPr>
          <a:xfrm>
            <a:off x="531328" y="4509634"/>
            <a:ext cx="84430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</a:rPr>
              <a:t>阳性率 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zh-CN" altLang="en-US" sz="2800" b="1" dirty="0">
                <a:solidFill>
                  <a:srgbClr val="FF0000"/>
                </a:solidFill>
              </a:rPr>
              <a:t>越小</a:t>
            </a:r>
            <a:r>
              <a:rPr lang="en-US" altLang="zh-CN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混合样本数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zh-CN" altLang="en-US" sz="2800" b="1" dirty="0">
                <a:solidFill>
                  <a:srgbClr val="FF0000"/>
                </a:solidFill>
              </a:rPr>
              <a:t>越大</a:t>
            </a:r>
            <a:r>
              <a:rPr lang="en-US" altLang="zh-CN" sz="2800" b="1" dirty="0">
                <a:solidFill>
                  <a:srgbClr val="FF0000"/>
                </a:solidFill>
              </a:rPr>
              <a:t>, </a:t>
            </a:r>
            <a:r>
              <a:rPr lang="zh-CN" altLang="en-US" sz="2800" b="1" dirty="0">
                <a:solidFill>
                  <a:srgbClr val="FF0000"/>
                </a:solidFill>
              </a:rPr>
              <a:t>检测次数</a:t>
            </a:r>
            <a:r>
              <a:rPr lang="en-US" altLang="zh-CN" sz="2800" b="1" i="1" dirty="0">
                <a:solidFill>
                  <a:srgbClr val="FF0000"/>
                </a:solidFill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</a:rPr>
              <a:t>越少</a:t>
            </a:r>
            <a:endParaRPr lang="zh-CN" altLang="en-US" sz="2800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903879"/>
              </p:ext>
            </p:extLst>
          </p:nvPr>
        </p:nvGraphicFramePr>
        <p:xfrm>
          <a:off x="208423" y="3083709"/>
          <a:ext cx="8816947" cy="128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9316742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5%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2%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0.003%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k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~5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~32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~101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~183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T/n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0.426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0.274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0.196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0.063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0.020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98423" y="373776"/>
            <a:ext cx="420843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/>
              <a:t>模型求解：混检方案 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7529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3734" y="405370"/>
            <a:ext cx="2342042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/>
              <a:t>模型扩展</a:t>
            </a:r>
            <a:r>
              <a:rPr lang="en-US" altLang="zh-CN" sz="3200" b="1" dirty="0"/>
              <a:t>1</a:t>
            </a:r>
            <a:r>
              <a:rPr lang="zh-CN" altLang="en-US" sz="3200" b="1" dirty="0"/>
              <a:t> </a:t>
            </a:r>
            <a:endParaRPr lang="zh-CN" altLang="en-US" sz="3200" dirty="0"/>
          </a:p>
        </p:txBody>
      </p:sp>
      <p:sp>
        <p:nvSpPr>
          <p:cNvPr id="13" name="矩形 12"/>
          <p:cNvSpPr/>
          <p:nvPr/>
        </p:nvSpPr>
        <p:spPr>
          <a:xfrm>
            <a:off x="2555776" y="548680"/>
            <a:ext cx="5940618" cy="1076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若模型</a:t>
            </a:r>
            <a:r>
              <a:rPr lang="zh-CN" altLang="en-US" sz="2800" b="1" dirty="0">
                <a:solidFill>
                  <a:srgbClr val="FF0000"/>
                </a:solidFill>
              </a:rPr>
              <a:t>假设“更精细化”</a:t>
            </a:r>
            <a:r>
              <a:rPr lang="zh-CN" altLang="en-US" sz="2800" b="1" dirty="0"/>
              <a:t>，</a:t>
            </a:r>
            <a:endParaRPr lang="en-US" altLang="zh-CN" sz="2800" b="1" dirty="0"/>
          </a:p>
          <a:p>
            <a:pPr algn="l">
              <a:lnSpc>
                <a:spcPct val="120000"/>
              </a:lnSpc>
            </a:pPr>
            <a:r>
              <a:rPr lang="en-US" altLang="zh-CN" sz="2800" b="1" dirty="0"/>
              <a:t>                  </a:t>
            </a:r>
            <a:r>
              <a:rPr lang="zh-CN" altLang="en-US" sz="2800" b="1" dirty="0"/>
              <a:t>建模有何改变？</a:t>
            </a:r>
            <a:endParaRPr lang="en-US" altLang="zh-CN" sz="2800" b="1" dirty="0"/>
          </a:p>
        </p:txBody>
      </p:sp>
      <p:sp>
        <p:nvSpPr>
          <p:cNvPr id="19" name="矩形 18"/>
          <p:cNvSpPr/>
          <p:nvPr/>
        </p:nvSpPr>
        <p:spPr>
          <a:xfrm>
            <a:off x="148885" y="2243538"/>
            <a:ext cx="8648059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例如：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=2, </a:t>
            </a:r>
            <a:r>
              <a:rPr lang="zh-CN" altLang="en-US" sz="2800" b="1" dirty="0"/>
              <a:t>若混检为阳性，</a:t>
            </a:r>
            <a:r>
              <a:rPr lang="zh-CN" altLang="en-US" sz="2800" b="1" dirty="0">
                <a:solidFill>
                  <a:srgbClr val="FF0000"/>
                </a:solidFill>
              </a:rPr>
              <a:t>依次</a:t>
            </a:r>
            <a:r>
              <a:rPr lang="zh-CN" altLang="en-US" sz="2800" b="1" dirty="0"/>
              <a:t>检测两个个体</a:t>
            </a:r>
            <a:endParaRPr lang="en-US" altLang="zh-CN" sz="2800" b="1" dirty="0"/>
          </a:p>
        </p:txBody>
      </p:sp>
      <p:sp>
        <p:nvSpPr>
          <p:cNvPr id="20" name="矩形 19"/>
          <p:cNvSpPr/>
          <p:nvPr/>
        </p:nvSpPr>
        <p:spPr>
          <a:xfrm>
            <a:off x="1211835" y="3611690"/>
            <a:ext cx="7072257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如果个体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阳性，继续检测个体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；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        否则个体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一定阳性  </a:t>
            </a:r>
            <a:r>
              <a:rPr lang="en-US" altLang="zh-CN" sz="2800" b="1" dirty="0">
                <a:sym typeface="Wingdings" panose="05000000000000000000" pitchFamily="2" charset="2"/>
              </a:rPr>
              <a:t> </a:t>
            </a:r>
            <a:r>
              <a:rPr lang="zh-CN" altLang="en-US" sz="2800" b="1" dirty="0">
                <a:solidFill>
                  <a:srgbClr val="FF0000"/>
                </a:solidFill>
              </a:rPr>
              <a:t>无需检测个体</a:t>
            </a:r>
            <a:r>
              <a:rPr lang="en-US" altLang="zh-CN" sz="2800" b="1" dirty="0">
                <a:solidFill>
                  <a:srgbClr val="FF0000"/>
                </a:solidFill>
              </a:rPr>
              <a:t>2 </a:t>
            </a:r>
          </a:p>
        </p:txBody>
      </p:sp>
      <p:sp>
        <p:nvSpPr>
          <p:cNvPr id="21" name="矩形 20"/>
          <p:cNvSpPr/>
          <p:nvPr/>
        </p:nvSpPr>
        <p:spPr>
          <a:xfrm>
            <a:off x="1403648" y="5627914"/>
            <a:ext cx="5472608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每组混合样本平均检测次数</a:t>
            </a:r>
            <a:r>
              <a:rPr lang="en-US" altLang="zh-CN" sz="2800" b="1" i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</a:rPr>
              <a:t>=?</a:t>
            </a:r>
          </a:p>
        </p:txBody>
      </p:sp>
    </p:spTree>
    <p:extLst>
      <p:ext uri="{BB962C8B-B14F-4D97-AF65-F5344CB8AC3E}">
        <p14:creationId xmlns:p14="http://schemas.microsoft.com/office/powerpoint/2010/main" val="390024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680085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对如上页所示的检测方式（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</a:rPr>
              <a:t>=2</a:t>
            </a:r>
            <a:r>
              <a:rPr lang="zh-CN" altLang="en-US" sz="2800" b="1" dirty="0">
                <a:solidFill>
                  <a:srgbClr val="FF0000"/>
                </a:solidFill>
              </a:rPr>
              <a:t>），每组混合样本平均检测次数</a:t>
            </a:r>
            <a:r>
              <a:rPr lang="en-US" altLang="zh-CN" sz="2800" b="1" i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/>
              <a:t>1</a:t>
            </a:r>
            <a:r>
              <a:rPr lang="en-US" altLang="zh-CN" sz="2800" b="1" dirty="0">
                <a:latin typeface="华文宋体"/>
                <a:ea typeface="华文宋体"/>
              </a:rPr>
              <a:t>+</a:t>
            </a:r>
            <a:r>
              <a:rPr lang="en-US" altLang="zh-CN" sz="2800" b="1" dirty="0"/>
              <a:t>2</a:t>
            </a:r>
            <a:r>
              <a:rPr lang="en-US" altLang="zh-CN" sz="2800" b="1" i="1" dirty="0"/>
              <a:t>p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/>
              <a:t>1</a:t>
            </a:r>
            <a:r>
              <a:rPr lang="en-US" altLang="zh-CN" sz="2800" b="1" dirty="0">
                <a:latin typeface="华文宋体"/>
                <a:ea typeface="华文宋体"/>
              </a:rPr>
              <a:t>+</a:t>
            </a:r>
            <a:r>
              <a:rPr lang="en-US" altLang="zh-CN" sz="2800" b="1" dirty="0"/>
              <a:t>2</a:t>
            </a:r>
            <a:r>
              <a:rPr lang="en-US" altLang="zh-CN" sz="2800" b="1" i="1" dirty="0"/>
              <a:t>p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baseline="30000" dirty="0"/>
              <a:t>2</a:t>
            </a:r>
            <a:endParaRPr lang="zh-CN" altLang="en-US" sz="2800" b="1" dirty="0"/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1812370" y="52767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/>
              <a:t>1</a:t>
            </a:r>
            <a:r>
              <a:rPr lang="en-US" altLang="zh-CN" sz="2800" b="1" dirty="0">
                <a:latin typeface="华文宋体"/>
                <a:ea typeface="华文宋体"/>
              </a:rPr>
              <a:t>+</a:t>
            </a:r>
            <a:r>
              <a:rPr lang="en-US" altLang="zh-CN" sz="2800" b="1" dirty="0"/>
              <a:t>4</a:t>
            </a:r>
            <a:r>
              <a:rPr lang="en-US" altLang="zh-CN" sz="2800" b="1" i="1" dirty="0"/>
              <a:t>p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dirty="0"/>
              <a:t>2</a:t>
            </a:r>
            <a:r>
              <a:rPr lang="en-US" altLang="zh-CN" sz="2800" b="1" i="1" dirty="0"/>
              <a:t>p</a:t>
            </a:r>
            <a:r>
              <a:rPr lang="en-US" altLang="zh-CN" sz="2800" b="1" baseline="30000" dirty="0"/>
              <a:t>2</a:t>
            </a:r>
            <a:endParaRPr lang="zh-CN" altLang="en-US" sz="2800" b="1" dirty="0"/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1812370" y="448610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/>
              <a:t>1</a:t>
            </a:r>
            <a:r>
              <a:rPr lang="en-US" altLang="zh-CN" sz="2800" b="1" dirty="0">
                <a:latin typeface="华文宋体"/>
                <a:ea typeface="华文宋体"/>
              </a:rPr>
              <a:t>+</a:t>
            </a:r>
            <a:r>
              <a:rPr lang="en-US" altLang="zh-CN" sz="2800" b="1" dirty="0"/>
              <a:t>3</a:t>
            </a:r>
            <a:r>
              <a:rPr lang="en-US" altLang="zh-CN" sz="2800" b="1" i="1" dirty="0"/>
              <a:t>p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baseline="30000" dirty="0"/>
              <a:t>2</a:t>
            </a:r>
            <a:endParaRPr lang="zh-CN" altLang="en-US" sz="2800" b="1" dirty="0"/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168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3734" y="405370"/>
            <a:ext cx="2016225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3200" b="1" dirty="0"/>
              <a:t>模型扩展 </a:t>
            </a:r>
            <a:endParaRPr lang="zh-CN" altLang="en-US" sz="3200" dirty="0"/>
          </a:p>
        </p:txBody>
      </p:sp>
      <p:sp>
        <p:nvSpPr>
          <p:cNvPr id="21" name="矩形 20"/>
          <p:cNvSpPr/>
          <p:nvPr/>
        </p:nvSpPr>
        <p:spPr>
          <a:xfrm>
            <a:off x="2411760" y="448403"/>
            <a:ext cx="5472608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每组混合样本平均检测次数</a:t>
            </a:r>
            <a:r>
              <a:rPr lang="en-US" altLang="zh-CN" sz="2800" b="1" i="1" dirty="0">
                <a:solidFill>
                  <a:srgbClr val="FF0000"/>
                </a:solidFill>
              </a:rPr>
              <a:t>T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</a:rPr>
              <a:t>=?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006937"/>
              </p:ext>
            </p:extLst>
          </p:nvPr>
        </p:nvGraphicFramePr>
        <p:xfrm>
          <a:off x="323528" y="1169268"/>
          <a:ext cx="35283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068">
                  <a:extLst>
                    <a:ext uri="{9D8B030D-6E8A-4147-A177-3AD203B41FA5}">
                      <a16:colId xmlns:a16="http://schemas.microsoft.com/office/drawing/2014/main" val="355247825"/>
                    </a:ext>
                  </a:extLst>
                </a:gridCol>
                <a:gridCol w="1340135">
                  <a:extLst>
                    <a:ext uri="{9D8B030D-6E8A-4147-A177-3AD203B41FA5}">
                      <a16:colId xmlns:a16="http://schemas.microsoft.com/office/drawing/2014/main" val="24932787"/>
                    </a:ext>
                  </a:extLst>
                </a:gridCol>
                <a:gridCol w="1518189">
                  <a:extLst>
                    <a:ext uri="{9D8B030D-6E8A-4147-A177-3AD203B41FA5}">
                      <a16:colId xmlns:a16="http://schemas.microsoft.com/office/drawing/2014/main" val="408861991"/>
                    </a:ext>
                  </a:extLst>
                </a:gridCol>
              </a:tblGrid>
              <a:tr h="490853">
                <a:tc>
                  <a:txBody>
                    <a:bodyPr/>
                    <a:lstStyle/>
                    <a:p>
                      <a:pPr algn="ctr"/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816234"/>
                  </a:ext>
                </a:extLst>
              </a:tr>
              <a:tr h="4908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/>
                        <a:t>(1</a:t>
                      </a:r>
                      <a:r>
                        <a:rPr lang="en-US" altLang="zh-CN" sz="2800" b="1" dirty="0">
                          <a:latin typeface="华文宋体"/>
                          <a:ea typeface="华文宋体"/>
                        </a:rPr>
                        <a:t>−</a:t>
                      </a:r>
                      <a:r>
                        <a:rPr lang="en-US" altLang="zh-CN" sz="2800" b="1" i="1" dirty="0"/>
                        <a:t>p</a:t>
                      </a:r>
                      <a:r>
                        <a:rPr lang="en-US" altLang="zh-CN" sz="2800" b="1" dirty="0"/>
                        <a:t>)</a:t>
                      </a:r>
                      <a:r>
                        <a:rPr lang="en-US" altLang="zh-CN" sz="2800" b="1" i="0" baseline="30000" dirty="0"/>
                        <a:t>2</a:t>
                      </a:r>
                      <a:r>
                        <a:rPr lang="en-US" altLang="zh-CN" sz="2800" b="1" dirty="0"/>
                        <a:t> 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dirty="0"/>
                        <a:t>(1</a:t>
                      </a:r>
                      <a:r>
                        <a:rPr lang="en-US" altLang="zh-CN" sz="2800" b="1" dirty="0">
                          <a:latin typeface="华文宋体"/>
                          <a:ea typeface="华文宋体"/>
                        </a:rPr>
                        <a:t>−</a:t>
                      </a:r>
                      <a:r>
                        <a:rPr lang="en-US" altLang="zh-CN" sz="2800" b="1" i="1" dirty="0"/>
                        <a:t>p</a:t>
                      </a:r>
                      <a:r>
                        <a:rPr lang="en-US" altLang="zh-CN" sz="2800" b="1" dirty="0"/>
                        <a:t>)</a:t>
                      </a:r>
                      <a:r>
                        <a:rPr lang="en-US" altLang="zh-CN" sz="2800" b="1" i="1" dirty="0"/>
                        <a:t>p</a:t>
                      </a:r>
                      <a:endParaRPr lang="zh-CN" altLang="en-US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458874"/>
                  </a:ext>
                </a:extLst>
              </a:tr>
              <a:tr h="4908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/>
                        <a:t>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i="1" dirty="0"/>
                        <a:t>p</a:t>
                      </a:r>
                      <a:r>
                        <a:rPr lang="en-US" altLang="zh-CN" sz="2800" b="1" dirty="0"/>
                        <a:t>(1</a:t>
                      </a:r>
                      <a:r>
                        <a:rPr lang="en-US" altLang="zh-CN" sz="2800" b="1" dirty="0">
                          <a:latin typeface="华文宋体"/>
                          <a:ea typeface="华文宋体"/>
                        </a:rPr>
                        <a:t>−</a:t>
                      </a:r>
                      <a:r>
                        <a:rPr lang="en-US" altLang="zh-CN" sz="2800" b="1" i="1" dirty="0"/>
                        <a:t>p</a:t>
                      </a:r>
                      <a:r>
                        <a:rPr lang="en-US" altLang="zh-CN" sz="2800" b="1" dirty="0"/>
                        <a:t>) </a:t>
                      </a:r>
                      <a:endParaRPr lang="zh-CN" alt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i="1" dirty="0"/>
                        <a:t>p</a:t>
                      </a:r>
                      <a:r>
                        <a:rPr lang="en-US" altLang="zh-CN" sz="2800" b="1" i="0" baseline="30000" dirty="0"/>
                        <a:t>2</a:t>
                      </a:r>
                      <a:endParaRPr lang="zh-CN" altLang="en-US" sz="2800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040763"/>
                  </a:ext>
                </a:extLst>
              </a:tr>
            </a:tbl>
          </a:graphicData>
        </a:graphic>
      </p:graphicFrame>
      <p:sp>
        <p:nvSpPr>
          <p:cNvPr id="10" name="TextBox 6"/>
          <p:cNvSpPr txBox="1"/>
          <p:nvPr/>
        </p:nvSpPr>
        <p:spPr>
          <a:xfrm>
            <a:off x="4571188" y="1124744"/>
            <a:ext cx="3914453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T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=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dirty="0"/>
              <a:t>*(1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</a:t>
            </a:r>
            <a:r>
              <a:rPr lang="en-US" altLang="zh-CN" sz="2800" b="1" i="1" baseline="30000" dirty="0"/>
              <a:t>2</a:t>
            </a:r>
            <a:r>
              <a:rPr lang="en-US" altLang="zh-CN" sz="2800" b="1" dirty="0"/>
              <a:t> </a:t>
            </a:r>
            <a:r>
              <a:rPr lang="en-US" altLang="zh-CN" sz="2800" b="1" i="1" baseline="30000" dirty="0"/>
              <a:t> </a:t>
            </a:r>
            <a:r>
              <a:rPr lang="en-US" altLang="zh-CN" sz="2800" b="1" dirty="0"/>
              <a:t>+ 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en-US" altLang="zh-CN" sz="2800" b="1" dirty="0"/>
              <a:t>*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 </a:t>
            </a:r>
            <a:endParaRPr lang="zh-CN" altLang="en-US" sz="2800" b="1" dirty="0"/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    + 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en-US" altLang="zh-CN" sz="2800" b="1" dirty="0"/>
              <a:t>*[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 + </a:t>
            </a:r>
            <a:r>
              <a:rPr lang="en-US" altLang="zh-CN" sz="2800" b="1" i="1" dirty="0"/>
              <a:t>p</a:t>
            </a:r>
            <a:r>
              <a:rPr lang="en-US" altLang="zh-CN" sz="2800" b="1" baseline="30000" dirty="0"/>
              <a:t>2</a:t>
            </a:r>
            <a:r>
              <a:rPr lang="en-US" altLang="zh-CN" sz="2800" b="1" dirty="0"/>
              <a:t>]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    = 1</a:t>
            </a:r>
            <a:r>
              <a:rPr lang="en-US" altLang="zh-CN" sz="2800" b="1" dirty="0">
                <a:latin typeface="华文宋体"/>
                <a:ea typeface="华文宋体"/>
              </a:rPr>
              <a:t>+</a:t>
            </a:r>
            <a:r>
              <a:rPr lang="en-US" altLang="zh-CN" sz="2800" b="1" dirty="0"/>
              <a:t>3</a:t>
            </a:r>
            <a:r>
              <a:rPr lang="en-US" altLang="zh-CN" sz="2800" b="1" i="1" dirty="0"/>
              <a:t>p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baseline="30000" dirty="0"/>
              <a:t>2</a:t>
            </a:r>
            <a:endParaRPr lang="zh-CN" altLang="en-US" sz="2800" b="1" dirty="0"/>
          </a:p>
        </p:txBody>
      </p:sp>
      <p:sp>
        <p:nvSpPr>
          <p:cNvPr id="11" name="矩形 10"/>
          <p:cNvSpPr/>
          <p:nvPr/>
        </p:nvSpPr>
        <p:spPr>
          <a:xfrm>
            <a:off x="679106" y="2882436"/>
            <a:ext cx="313102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“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合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”混检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    优于单检？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5" name="TextBox 6"/>
          <p:cNvSpPr txBox="1"/>
          <p:nvPr/>
        </p:nvSpPr>
        <p:spPr>
          <a:xfrm>
            <a:off x="4540356" y="2856134"/>
            <a:ext cx="3055979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T</a:t>
            </a:r>
            <a:r>
              <a:rPr lang="en-US" altLang="zh-CN" sz="2800" b="1" baseline="-25000" dirty="0"/>
              <a:t>1 </a:t>
            </a:r>
            <a:r>
              <a:rPr lang="en-US" altLang="zh-CN" sz="2800" b="1" dirty="0"/>
              <a:t>= 1</a:t>
            </a:r>
            <a:r>
              <a:rPr lang="en-US" altLang="zh-CN" sz="2800" b="1" dirty="0">
                <a:latin typeface="华文宋体"/>
                <a:ea typeface="华文宋体"/>
              </a:rPr>
              <a:t>+</a:t>
            </a:r>
            <a:r>
              <a:rPr lang="en-US" altLang="zh-CN" sz="2800" b="1" dirty="0"/>
              <a:t>3</a:t>
            </a:r>
            <a:r>
              <a:rPr lang="en-US" altLang="zh-CN" sz="2800" b="1" i="1" dirty="0"/>
              <a:t>p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baseline="30000" dirty="0"/>
              <a:t>2</a:t>
            </a:r>
            <a:r>
              <a:rPr lang="en-US" altLang="zh-CN" sz="2800" b="1" i="1" baseline="30000" dirty="0"/>
              <a:t> </a:t>
            </a:r>
            <a:r>
              <a:rPr lang="en-US" altLang="zh-CN" sz="2800" b="1" dirty="0">
                <a:latin typeface="华文宋体"/>
                <a:ea typeface="华文宋体"/>
                <a:sym typeface="Symbol" panose="05050102010706020507" pitchFamily="18" charset="2"/>
              </a:rPr>
              <a:t> 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en-US" altLang="zh-CN" sz="2800" b="1" dirty="0"/>
              <a:t>  </a:t>
            </a:r>
            <a:endParaRPr lang="zh-CN" alt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6"/>
              <p:cNvSpPr txBox="1"/>
              <p:nvPr/>
            </p:nvSpPr>
            <p:spPr>
              <a:xfrm>
                <a:off x="4531939" y="3456274"/>
                <a:ext cx="4253340" cy="603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800" b="1" i="1" dirty="0"/>
                  <a:t>p </a:t>
                </a:r>
                <a:r>
                  <a:rPr lang="en-US" altLang="zh-CN" sz="2800" b="1" dirty="0">
                    <a:latin typeface="华文宋体"/>
                    <a:ea typeface="华文宋体"/>
                    <a:sym typeface="Symbol" panose="05050102010706020507" pitchFamily="18" charset="2"/>
                  </a:rPr>
                  <a:t></a:t>
                </a:r>
                <a:r>
                  <a:rPr lang="en-US" altLang="zh-CN" sz="2800" b="1" i="1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𝟑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𝟓</m:t>
                        </m:r>
                      </m:e>
                    </m:rad>
                    <m:r>
                      <a:rPr lang="en-US" altLang="zh-CN" sz="28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)/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</m:oMath>
                </a14:m>
                <a:r>
                  <a:rPr lang="zh-CN" altLang="en-US" sz="2800" b="1" dirty="0"/>
                  <a:t> </a:t>
                </a:r>
                <a:r>
                  <a:rPr lang="zh-CN" altLang="en-US" sz="2800" b="1" dirty="0">
                    <a:sym typeface="Symbol" panose="05050102010706020507" pitchFamily="18" charset="2"/>
                  </a:rPr>
                  <a:t> </a:t>
                </a:r>
                <a:r>
                  <a:rPr lang="en-US" altLang="zh-CN" sz="2800" b="1" dirty="0">
                    <a:sym typeface="Symbol" panose="05050102010706020507" pitchFamily="18" charset="2"/>
                  </a:rPr>
                  <a:t>0.382</a:t>
                </a:r>
              </a:p>
            </p:txBody>
          </p:sp>
        </mc:Choice>
        <mc:Fallback xmlns="">
          <p:sp>
            <p:nvSpPr>
              <p:cNvPr id="16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939" y="3456274"/>
                <a:ext cx="4253340" cy="603948"/>
              </a:xfrm>
              <a:prstGeom prst="rect">
                <a:avLst/>
              </a:prstGeom>
              <a:blipFill>
                <a:blip r:embed="rId2"/>
                <a:stretch>
                  <a:fillRect l="-2865" b="-282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9"/>
          <p:cNvSpPr txBox="1"/>
          <p:nvPr/>
        </p:nvSpPr>
        <p:spPr>
          <a:xfrm>
            <a:off x="2987823" y="4534786"/>
            <a:ext cx="5976665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比较：</a:t>
            </a:r>
            <a:r>
              <a:rPr lang="en-US" altLang="zh-CN" sz="2800" b="1" dirty="0"/>
              <a:t>    1</a:t>
            </a:r>
            <a:r>
              <a:rPr lang="en-US" altLang="zh-CN" sz="2800" b="1" dirty="0">
                <a:latin typeface="华文宋体"/>
                <a:ea typeface="华文宋体"/>
              </a:rPr>
              <a:t> − </a:t>
            </a:r>
            <a:r>
              <a:rPr lang="en-US" altLang="zh-CN" sz="2800" b="1" dirty="0"/>
              <a:t>2</a:t>
            </a:r>
            <a:r>
              <a:rPr lang="en-US" altLang="zh-CN" sz="2800" b="1" i="1" baseline="30000" dirty="0"/>
              <a:t>-</a:t>
            </a:r>
            <a:r>
              <a:rPr lang="en-US" altLang="zh-CN" sz="2800" b="1" baseline="30000" dirty="0"/>
              <a:t>1/2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solidFill>
                  <a:srgbClr val="FF0000"/>
                </a:solidFill>
              </a:rPr>
              <a:t>0.2929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 0.29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                1</a:t>
            </a:r>
            <a:r>
              <a:rPr lang="en-US" altLang="zh-CN" sz="2800" b="1" dirty="0">
                <a:latin typeface="华文宋体"/>
                <a:ea typeface="华文宋体"/>
              </a:rPr>
              <a:t> − </a:t>
            </a:r>
            <a:r>
              <a:rPr lang="en-US" altLang="zh-CN" sz="2800" b="1" dirty="0"/>
              <a:t>3</a:t>
            </a:r>
            <a:r>
              <a:rPr lang="en-US" altLang="zh-CN" sz="2800" b="1" i="1" baseline="30000" dirty="0"/>
              <a:t>-</a:t>
            </a:r>
            <a:r>
              <a:rPr lang="en-US" altLang="zh-CN" sz="2800" b="1" baseline="30000" dirty="0"/>
              <a:t>1/3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solidFill>
                  <a:srgbClr val="FF0000"/>
                </a:solidFill>
              </a:rPr>
              <a:t>0.3066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 </a:t>
            </a:r>
            <a:r>
              <a:rPr lang="en-US" altLang="zh-CN" sz="2800" b="1" dirty="0">
                <a:solidFill>
                  <a:srgbClr val="FF0000"/>
                </a:solidFill>
              </a:rPr>
              <a:t>0.307</a:t>
            </a:r>
            <a:endParaRPr lang="zh-CN" altLang="en-US" sz="2800" b="1" dirty="0"/>
          </a:p>
        </p:txBody>
      </p:sp>
      <p:sp>
        <p:nvSpPr>
          <p:cNvPr id="14" name="矩形 13"/>
          <p:cNvSpPr/>
          <p:nvPr/>
        </p:nvSpPr>
        <p:spPr>
          <a:xfrm>
            <a:off x="1184380" y="5709266"/>
            <a:ext cx="6696743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solidFill>
                  <a:schemeClr val="accent2"/>
                </a:solidFill>
              </a:rPr>
              <a:t>思考：如何推广到一般的“</a:t>
            </a:r>
            <a:r>
              <a:rPr lang="en-US" altLang="zh-CN" sz="2800" b="1" i="1" dirty="0">
                <a:solidFill>
                  <a:schemeClr val="accent2"/>
                </a:solidFill>
              </a:rPr>
              <a:t>k</a:t>
            </a:r>
            <a:r>
              <a:rPr lang="zh-CN" altLang="en-US" sz="2800" b="1" dirty="0">
                <a:solidFill>
                  <a:schemeClr val="accent2"/>
                </a:solidFill>
              </a:rPr>
              <a:t>合</a:t>
            </a:r>
            <a:r>
              <a:rPr lang="en-US" altLang="zh-CN" sz="2800" b="1" dirty="0">
                <a:solidFill>
                  <a:schemeClr val="accent2"/>
                </a:solidFill>
              </a:rPr>
              <a:t>1</a:t>
            </a:r>
            <a:r>
              <a:rPr lang="zh-CN" altLang="en-US" sz="2800" b="1" dirty="0">
                <a:solidFill>
                  <a:schemeClr val="accent2"/>
                </a:solidFill>
              </a:rPr>
              <a:t>”情形？</a:t>
            </a:r>
            <a:endParaRPr lang="en-US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6985078" y="3975361"/>
            <a:ext cx="1979410" cy="576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ym typeface="Symbol" panose="05050102010706020507" pitchFamily="18" charset="2"/>
              </a:rPr>
              <a:t>= 1</a:t>
            </a:r>
            <a:r>
              <a:rPr lang="en-US" altLang="zh-CN" sz="2800" b="1" dirty="0">
                <a:latin typeface="华文宋体"/>
                <a:ea typeface="华文宋体"/>
              </a:rPr>
              <a:t> −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0.618</a:t>
            </a:r>
          </a:p>
        </p:txBody>
      </p:sp>
    </p:spTree>
    <p:extLst>
      <p:ext uri="{BB962C8B-B14F-4D97-AF65-F5344CB8AC3E}">
        <p14:creationId xmlns:p14="http://schemas.microsoft.com/office/powerpoint/2010/main" val="344079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  <p:bldP spid="12" grpId="0"/>
      <p:bldP spid="14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6064" y="367807"/>
            <a:ext cx="4159877" cy="584775"/>
          </a:xfr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模型扩展</a:t>
            </a:r>
            <a:r>
              <a:rPr lang="en-US" altLang="zh-CN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：</a:t>
            </a:r>
            <a:r>
              <a:rPr lang="en-US" altLang="zh-CN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次混检</a:t>
            </a:r>
          </a:p>
        </p:txBody>
      </p:sp>
      <p:sp>
        <p:nvSpPr>
          <p:cNvPr id="3" name="矩形 2"/>
          <p:cNvSpPr/>
          <p:nvPr/>
        </p:nvSpPr>
        <p:spPr>
          <a:xfrm>
            <a:off x="151519" y="1644967"/>
            <a:ext cx="4780521" cy="1076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次：</a:t>
            </a:r>
            <a:r>
              <a:rPr lang="en-US" altLang="zh-CN" sz="2800" b="1" i="1" dirty="0"/>
              <a:t>u=n/k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设为整数</a:t>
            </a:r>
            <a:r>
              <a:rPr lang="en-US" altLang="zh-CN" sz="2800" b="1" dirty="0"/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期望阳性组数 </a:t>
            </a:r>
            <a:r>
              <a:rPr lang="en-US" altLang="zh-CN" sz="2800" b="1" dirty="0"/>
              <a:t>= 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179512" y="1023817"/>
            <a:ext cx="1101717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问题</a:t>
            </a:r>
          </a:p>
        </p:txBody>
      </p:sp>
      <p:sp>
        <p:nvSpPr>
          <p:cNvPr id="6" name="矩形 5"/>
          <p:cNvSpPr/>
          <p:nvPr/>
        </p:nvSpPr>
        <p:spPr>
          <a:xfrm>
            <a:off x="1403648" y="1023817"/>
            <a:ext cx="7455814" cy="559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>
                <a:solidFill>
                  <a:schemeClr val="accent2"/>
                </a:solidFill>
              </a:rPr>
              <a:t>当</a:t>
            </a:r>
            <a:r>
              <a:rPr lang="en-US" altLang="zh-CN" sz="2800" b="1" dirty="0">
                <a:solidFill>
                  <a:schemeClr val="accent2"/>
                </a:solidFill>
              </a:rPr>
              <a:t>1</a:t>
            </a:r>
            <a:r>
              <a:rPr lang="zh-CN" altLang="en-US" sz="2800" b="1" dirty="0">
                <a:solidFill>
                  <a:schemeClr val="accent2"/>
                </a:solidFill>
              </a:rPr>
              <a:t>次混检 </a:t>
            </a:r>
            <a:r>
              <a:rPr lang="en-US" altLang="zh-CN" sz="2800" b="1" i="1" dirty="0">
                <a:solidFill>
                  <a:schemeClr val="accent2"/>
                </a:solidFill>
              </a:rPr>
              <a:t>k </a:t>
            </a:r>
            <a:r>
              <a:rPr lang="zh-CN" altLang="en-US" sz="2800" b="1" dirty="0">
                <a:solidFill>
                  <a:schemeClr val="accent2"/>
                </a:solidFill>
              </a:rPr>
              <a:t>较大时，怎样进行第</a:t>
            </a:r>
            <a:r>
              <a:rPr lang="en-US" altLang="zh-CN" sz="2800" b="1" dirty="0">
                <a:solidFill>
                  <a:schemeClr val="accent2"/>
                </a:solidFill>
              </a:rPr>
              <a:t>2</a:t>
            </a:r>
            <a:r>
              <a:rPr lang="zh-CN" altLang="en-US" sz="2800" b="1" dirty="0">
                <a:solidFill>
                  <a:schemeClr val="accent2"/>
                </a:solidFill>
              </a:rPr>
              <a:t>次混检？</a:t>
            </a:r>
            <a:endParaRPr lang="en-US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6064" y="2976019"/>
            <a:ext cx="4463786" cy="10769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第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次：</a:t>
            </a:r>
            <a:r>
              <a:rPr lang="en-US" altLang="zh-CN" sz="2800" b="1" i="1" dirty="0"/>
              <a:t>v=k/m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设为整数</a:t>
            </a:r>
            <a:r>
              <a:rPr lang="en-US" altLang="zh-CN" sz="2800" b="1" dirty="0"/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近似认为个体阳性率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zh-CN" altLang="en-US" sz="2800" b="1" dirty="0"/>
              <a:t>不变</a:t>
            </a:r>
          </a:p>
        </p:txBody>
      </p:sp>
      <p:sp>
        <p:nvSpPr>
          <p:cNvPr id="8" name="矩形 7"/>
          <p:cNvSpPr/>
          <p:nvPr/>
        </p:nvSpPr>
        <p:spPr>
          <a:xfrm>
            <a:off x="4871028" y="1644967"/>
            <a:ext cx="3988434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期望总检测次数</a:t>
            </a:r>
            <a:r>
              <a:rPr lang="en-US" altLang="zh-CN" sz="2800" b="1" i="1" dirty="0">
                <a:solidFill>
                  <a:srgbClr val="FF0000"/>
                </a:solidFill>
              </a:rPr>
              <a:t>T  </a:t>
            </a:r>
          </a:p>
          <a:p>
            <a:pPr>
              <a:lnSpc>
                <a:spcPct val="120000"/>
              </a:lnSpc>
            </a:pPr>
            <a:r>
              <a:rPr lang="en-US" altLang="zh-CN" sz="2800" b="1" i="1" dirty="0"/>
              <a:t>= 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i="1" dirty="0"/>
              <a:t>* u</a:t>
            </a:r>
            <a:r>
              <a:rPr lang="en-US" altLang="zh-CN" sz="2800" b="1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+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+</a:t>
            </a:r>
            <a:endParaRPr lang="zh-CN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5155062" y="3163082"/>
            <a:ext cx="3837417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</a:rPr>
              <a:t>m</a:t>
            </a:r>
            <a:r>
              <a:rPr lang="en-US" altLang="zh-CN" sz="2800" b="1" dirty="0">
                <a:solidFill>
                  <a:srgbClr val="FF0000"/>
                </a:solidFill>
              </a:rPr>
              <a:t> +1)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i="1" dirty="0"/>
              <a:t>* u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)*</a:t>
            </a:r>
            <a:r>
              <a:rPr lang="en-US" altLang="zh-CN" sz="2800" b="1" i="1" dirty="0"/>
              <a:t>v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m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10" name="矩形 9"/>
          <p:cNvSpPr/>
          <p:nvPr/>
        </p:nvSpPr>
        <p:spPr>
          <a:xfrm>
            <a:off x="5155061" y="2652919"/>
            <a:ext cx="3614397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i="1" dirty="0"/>
              <a:t>* u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 * </a:t>
            </a:r>
            <a:r>
              <a:rPr lang="en-US" altLang="zh-CN" sz="2800" b="1" i="1" dirty="0" err="1"/>
              <a:t>vq</a:t>
            </a:r>
            <a:r>
              <a:rPr lang="en-US" altLang="zh-CN" sz="2800" b="1" i="1" baseline="30000" dirty="0" err="1"/>
              <a:t>m</a:t>
            </a:r>
            <a:endParaRPr lang="zh-CN" altLang="en-US" sz="2800" b="1" dirty="0"/>
          </a:p>
        </p:txBody>
      </p:sp>
      <p:sp>
        <p:nvSpPr>
          <p:cNvPr id="11" name="矩形 10"/>
          <p:cNvSpPr/>
          <p:nvPr/>
        </p:nvSpPr>
        <p:spPr>
          <a:xfrm>
            <a:off x="4886242" y="4061596"/>
            <a:ext cx="409346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= u + </a:t>
            </a:r>
            <a:r>
              <a:rPr lang="en-US" altLang="zh-CN" sz="2800" b="1" i="1" dirty="0" err="1"/>
              <a:t>uv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 </a:t>
            </a:r>
          </a:p>
          <a:p>
            <a:pPr>
              <a:lnSpc>
                <a:spcPct val="120000"/>
              </a:lnSpc>
            </a:pPr>
            <a:r>
              <a:rPr lang="en-US" altLang="zh-CN" sz="2800" b="1" dirty="0"/>
              <a:t>      + </a:t>
            </a:r>
            <a:r>
              <a:rPr lang="en-US" altLang="zh-CN" sz="2800" b="1" i="1" dirty="0" err="1"/>
              <a:t>uvm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 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m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12" name="矩形 11"/>
          <p:cNvSpPr/>
          <p:nvPr/>
        </p:nvSpPr>
        <p:spPr>
          <a:xfrm>
            <a:off x="533439" y="4106698"/>
            <a:ext cx="4229607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/>
              <a:t>期望阴性</a:t>
            </a:r>
            <a:r>
              <a:rPr lang="zh-CN" altLang="en-US" sz="2800" b="1" dirty="0">
                <a:solidFill>
                  <a:srgbClr val="FF0000"/>
                </a:solidFill>
              </a:rPr>
              <a:t>小组</a:t>
            </a:r>
            <a:r>
              <a:rPr lang="zh-CN" altLang="en-US" sz="2800" b="1" dirty="0"/>
              <a:t>数 </a:t>
            </a:r>
            <a:r>
              <a:rPr lang="en-US" altLang="zh-CN" sz="2800" b="1" dirty="0"/>
              <a:t>= </a:t>
            </a:r>
            <a:r>
              <a:rPr lang="en-US" altLang="zh-CN" sz="2800" b="1" i="1" dirty="0" err="1"/>
              <a:t>vq</a:t>
            </a:r>
            <a:r>
              <a:rPr lang="en-US" altLang="zh-CN" sz="2800" b="1" i="1" baseline="30000" dirty="0" err="1"/>
              <a:t>m</a:t>
            </a:r>
            <a:endParaRPr lang="en-US" altLang="zh-CN" sz="2800" b="1" dirty="0"/>
          </a:p>
          <a:p>
            <a:pPr>
              <a:lnSpc>
                <a:spcPct val="120000"/>
              </a:lnSpc>
            </a:pPr>
            <a:r>
              <a:rPr lang="zh-CN" altLang="en-US" sz="2800" b="1" dirty="0"/>
              <a:t>期望阳性</a:t>
            </a:r>
            <a:r>
              <a:rPr lang="zh-CN" altLang="en-US" sz="2800" b="1" dirty="0">
                <a:solidFill>
                  <a:srgbClr val="FF0000"/>
                </a:solidFill>
              </a:rPr>
              <a:t>小组</a:t>
            </a:r>
            <a:r>
              <a:rPr lang="zh-CN" altLang="en-US" sz="2800" b="1" dirty="0"/>
              <a:t>数 </a:t>
            </a:r>
            <a:r>
              <a:rPr lang="en-US" altLang="zh-CN" sz="2800" b="1" dirty="0"/>
              <a:t>= </a:t>
            </a:r>
            <a:r>
              <a:rPr lang="en-US" altLang="zh-CN" sz="2800" b="1" i="1" dirty="0"/>
              <a:t>v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m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14" name="矩形 13"/>
          <p:cNvSpPr/>
          <p:nvPr/>
        </p:nvSpPr>
        <p:spPr>
          <a:xfrm>
            <a:off x="138069" y="5699803"/>
            <a:ext cx="4289915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个体期望检测次数</a:t>
            </a:r>
            <a:r>
              <a:rPr lang="en-US" altLang="zh-CN" sz="2800" b="1" i="1" dirty="0">
                <a:solidFill>
                  <a:srgbClr val="FF0000"/>
                </a:solidFill>
              </a:rPr>
              <a:t> y = T/n  </a:t>
            </a:r>
          </a:p>
        </p:txBody>
      </p:sp>
      <p:sp>
        <p:nvSpPr>
          <p:cNvPr id="15" name="矩形 14"/>
          <p:cNvSpPr/>
          <p:nvPr/>
        </p:nvSpPr>
        <p:spPr>
          <a:xfrm>
            <a:off x="4260460" y="5704058"/>
            <a:ext cx="47192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= </a:t>
            </a:r>
            <a:r>
              <a:rPr lang="en-US" altLang="zh-CN" sz="2800" b="1" dirty="0"/>
              <a:t>1</a:t>
            </a:r>
            <a:r>
              <a:rPr lang="en-US" altLang="zh-CN" sz="2800" b="1" i="1" dirty="0"/>
              <a:t>/k + 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)/</a:t>
            </a:r>
            <a:r>
              <a:rPr lang="en-US" altLang="zh-CN" sz="2800" b="1" i="1" dirty="0"/>
              <a:t>m</a:t>
            </a:r>
            <a:r>
              <a:rPr lang="en-US" altLang="zh-CN" sz="2800" b="1" dirty="0"/>
              <a:t>+(1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 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m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23333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5112568" cy="584775"/>
          </a:xfr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次混检：模型分析与求解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626" y="1918928"/>
            <a:ext cx="2647924" cy="1076749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 bwMode="auto">
          <a:xfrm flipH="1">
            <a:off x="2991272" y="3994876"/>
            <a:ext cx="672442" cy="50405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0077" y="1135923"/>
            <a:ext cx="4289915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个体期望检测次数</a:t>
            </a:r>
            <a:r>
              <a:rPr lang="en-US" altLang="zh-CN" sz="2800" b="1" i="1" dirty="0">
                <a:solidFill>
                  <a:srgbClr val="FF0000"/>
                </a:solidFill>
              </a:rPr>
              <a:t> y   </a:t>
            </a:r>
          </a:p>
        </p:txBody>
      </p:sp>
      <p:sp>
        <p:nvSpPr>
          <p:cNvPr id="10" name="矩形 9"/>
          <p:cNvSpPr/>
          <p:nvPr/>
        </p:nvSpPr>
        <p:spPr>
          <a:xfrm>
            <a:off x="3923928" y="1162943"/>
            <a:ext cx="4719242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= </a:t>
            </a:r>
            <a:r>
              <a:rPr lang="en-US" altLang="zh-CN" sz="2800" b="1" dirty="0"/>
              <a:t>1</a:t>
            </a:r>
            <a:r>
              <a:rPr lang="en-US" altLang="zh-CN" sz="2800" b="1" i="1" dirty="0"/>
              <a:t>/k + </a:t>
            </a:r>
            <a:r>
              <a:rPr lang="en-US" altLang="zh-CN" sz="2800" b="1" dirty="0"/>
              <a:t>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)/</a:t>
            </a:r>
            <a:r>
              <a:rPr lang="en-US" altLang="zh-CN" sz="2800" b="1" i="1" dirty="0"/>
              <a:t>m</a:t>
            </a:r>
            <a:r>
              <a:rPr lang="en-US" altLang="zh-CN" sz="2800" b="1" dirty="0"/>
              <a:t>+(1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 (1</a:t>
            </a:r>
            <a:r>
              <a:rPr lang="en-US" altLang="zh-CN" sz="2800" b="1" i="1" dirty="0"/>
              <a:t>-q</a:t>
            </a:r>
            <a:r>
              <a:rPr lang="en-US" altLang="zh-CN" sz="2800" b="1" i="1" baseline="30000" dirty="0"/>
              <a:t>m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sp>
        <p:nvSpPr>
          <p:cNvPr id="11" name="矩形 10"/>
          <p:cNvSpPr/>
          <p:nvPr/>
        </p:nvSpPr>
        <p:spPr>
          <a:xfrm>
            <a:off x="395536" y="1835741"/>
            <a:ext cx="38884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/>
              <a:t>模型简化：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很小               </a:t>
            </a:r>
            <a:endParaRPr lang="en-US" altLang="zh-CN" sz="2800" b="1" dirty="0"/>
          </a:p>
          <a:p>
            <a:r>
              <a:rPr lang="en-US" altLang="zh-CN" sz="2800" b="1" i="1" dirty="0" err="1"/>
              <a:t>q</a:t>
            </a:r>
            <a:r>
              <a:rPr lang="en-US" altLang="zh-CN" sz="2800" b="1" i="1" baseline="30000" dirty="0" err="1"/>
              <a:t>k</a:t>
            </a:r>
            <a:r>
              <a:rPr lang="en-US" altLang="zh-CN" sz="2800" b="1" dirty="0"/>
              <a:t>=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  </a:t>
            </a:r>
            <a:r>
              <a:rPr lang="en-US" altLang="zh-CN" sz="2800" b="1" dirty="0">
                <a:sym typeface="Symbol"/>
              </a:rPr>
              <a:t>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kp</a:t>
            </a:r>
            <a:r>
              <a:rPr lang="en-US" altLang="zh-CN" sz="2800" b="1" dirty="0"/>
              <a:t>)</a:t>
            </a:r>
          </a:p>
          <a:p>
            <a:r>
              <a:rPr lang="en-US" altLang="zh-CN" sz="2800" b="1" i="1" dirty="0" err="1"/>
              <a:t>q</a:t>
            </a:r>
            <a:r>
              <a:rPr lang="en-US" altLang="zh-CN" sz="2800" b="1" i="1" baseline="30000" dirty="0" err="1"/>
              <a:t>m</a:t>
            </a:r>
            <a:r>
              <a:rPr lang="en-US" altLang="zh-CN" sz="2800" b="1" dirty="0"/>
              <a:t>=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</a:t>
            </a:r>
            <a:r>
              <a:rPr lang="en-US" altLang="zh-CN" sz="2800" b="1" i="1" baseline="30000" dirty="0"/>
              <a:t>m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/>
              </a:rPr>
              <a:t>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mp</a:t>
            </a:r>
            <a:r>
              <a:rPr lang="en-US" altLang="zh-CN" sz="2800" b="1" dirty="0"/>
              <a:t>)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419872" y="3378361"/>
                <a:ext cx="4104456" cy="7023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𝒎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3378361"/>
                <a:ext cx="4104456" cy="7023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3131840" y="4413139"/>
                <a:ext cx="4104456" cy="725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𝒌𝒑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𝒌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413139"/>
                <a:ext cx="4104456" cy="7257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7075908" y="3484877"/>
            <a:ext cx="1075194" cy="1595849"/>
            <a:chOff x="7075908" y="3484877"/>
            <a:chExt cx="1075194" cy="1595849"/>
          </a:xfrm>
        </p:grpSpPr>
        <p:sp>
          <p:nvSpPr>
            <p:cNvPr id="13" name="矩形 12"/>
            <p:cNvSpPr/>
            <p:nvPr/>
          </p:nvSpPr>
          <p:spPr>
            <a:xfrm>
              <a:off x="7075908" y="3484877"/>
              <a:ext cx="1075194" cy="609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 i="1" dirty="0">
                  <a:solidFill>
                    <a:srgbClr val="FF0000"/>
                  </a:solidFill>
                </a:rPr>
                <a:t>= 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0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075908" y="4471328"/>
              <a:ext cx="1075194" cy="6093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 i="1" dirty="0">
                  <a:solidFill>
                    <a:srgbClr val="FF0000"/>
                  </a:solidFill>
                </a:rPr>
                <a:t>= 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0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827584" y="4753456"/>
                <a:ext cx="1908720" cy="3831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753456"/>
                <a:ext cx="1908720" cy="3831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721521" y="3615729"/>
                <a:ext cx="2299974" cy="7673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21" y="3615729"/>
                <a:ext cx="2299974" cy="7673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3779912" y="5506910"/>
            <a:ext cx="42484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chemeClr val="accent2"/>
                </a:solidFill>
              </a:rPr>
              <a:t>m</a:t>
            </a:r>
            <a:r>
              <a:rPr lang="zh-CN" altLang="en-US" sz="2800" b="1" dirty="0">
                <a:solidFill>
                  <a:schemeClr val="accent2"/>
                </a:solidFill>
              </a:rPr>
              <a:t>的最优值，与“</a:t>
            </a:r>
            <a:r>
              <a:rPr lang="en-US" altLang="zh-CN" sz="2800" b="1" dirty="0">
                <a:solidFill>
                  <a:schemeClr val="accent2"/>
                </a:solidFill>
              </a:rPr>
              <a:t>1</a:t>
            </a:r>
            <a:r>
              <a:rPr lang="zh-CN" altLang="en-US" sz="2800" b="1" dirty="0">
                <a:solidFill>
                  <a:schemeClr val="accent2"/>
                </a:solidFill>
              </a:rPr>
              <a:t>次混检”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zh-CN" altLang="en-US" sz="2800" b="1" dirty="0">
                <a:solidFill>
                  <a:schemeClr val="accent2"/>
                </a:solidFill>
              </a:rPr>
              <a:t>最优的</a:t>
            </a:r>
            <a:r>
              <a:rPr lang="en-US" altLang="zh-CN" sz="2800" b="1" i="1" dirty="0">
                <a:solidFill>
                  <a:schemeClr val="accent2"/>
                </a:solidFill>
              </a:rPr>
              <a:t>k</a:t>
            </a:r>
            <a:r>
              <a:rPr lang="zh-CN" altLang="en-US" sz="2800" b="1" dirty="0">
                <a:solidFill>
                  <a:schemeClr val="accent2"/>
                </a:solidFill>
              </a:rPr>
              <a:t>相同，为什么？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8740" y="5506911"/>
            <a:ext cx="26527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取附近整数，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zh-CN" altLang="en-US" sz="2800" b="1" dirty="0">
                <a:solidFill>
                  <a:srgbClr val="FF0000"/>
                </a:solidFill>
              </a:rPr>
              <a:t>计算比较</a:t>
            </a:r>
            <a:endParaRPr lang="zh-CN" altLang="en-US" sz="2800" dirty="0"/>
          </a:p>
        </p:txBody>
      </p:sp>
      <p:sp>
        <p:nvSpPr>
          <p:cNvPr id="20" name="矩形 19"/>
          <p:cNvSpPr/>
          <p:nvPr/>
        </p:nvSpPr>
        <p:spPr>
          <a:xfrm>
            <a:off x="6755748" y="1946051"/>
            <a:ext cx="23397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</a:rPr>
              <a:t>可用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r>
              <a:rPr lang="zh-CN" altLang="en-US" sz="2800" b="1" dirty="0">
                <a:solidFill>
                  <a:schemeClr val="accent2"/>
                </a:solidFill>
              </a:rPr>
              <a:t>均值不等式</a:t>
            </a:r>
          </a:p>
        </p:txBody>
      </p:sp>
    </p:spTree>
    <p:extLst>
      <p:ext uri="{BB962C8B-B14F-4D97-AF65-F5344CB8AC3E}">
        <p14:creationId xmlns:p14="http://schemas.microsoft.com/office/powerpoint/2010/main" val="32801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4" grpId="0"/>
      <p:bldP spid="12" grpId="0"/>
      <p:bldP spid="16" grpId="0"/>
      <p:bldP spid="17" grpId="0"/>
      <p:bldP spid="18" grpId="0"/>
      <p:bldP spid="19" grpId="0"/>
      <p:bldP spid="2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3960440" cy="584775"/>
          </a:xfr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sz="3200" b="1" kern="12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rPr>
              <a:t>次混检：计算结果</a:t>
            </a:r>
          </a:p>
        </p:txBody>
      </p:sp>
      <p:sp>
        <p:nvSpPr>
          <p:cNvPr id="3" name="矩形 2"/>
          <p:cNvSpPr/>
          <p:nvPr/>
        </p:nvSpPr>
        <p:spPr>
          <a:xfrm>
            <a:off x="1331640" y="4050494"/>
            <a:ext cx="3610284" cy="5598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chemeClr val="accent2"/>
                </a:solidFill>
              </a:rPr>
              <a:t>对比“</a:t>
            </a:r>
            <a:r>
              <a:rPr lang="en-US" altLang="zh-CN" sz="2800" b="1" dirty="0">
                <a:solidFill>
                  <a:schemeClr val="accent2"/>
                </a:solidFill>
              </a:rPr>
              <a:t>1</a:t>
            </a:r>
            <a:r>
              <a:rPr lang="zh-CN" altLang="en-US" sz="2800" b="1" dirty="0">
                <a:solidFill>
                  <a:schemeClr val="accent2"/>
                </a:solidFill>
              </a:rPr>
              <a:t>次混检”结果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923226"/>
              </p:ext>
            </p:extLst>
          </p:nvPr>
        </p:nvGraphicFramePr>
        <p:xfrm>
          <a:off x="179512" y="4802480"/>
          <a:ext cx="8816947" cy="128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092">
                  <a:extLst>
                    <a:ext uri="{9D8B030D-6E8A-4147-A177-3AD203B41FA5}">
                      <a16:colId xmlns:a16="http://schemas.microsoft.com/office/drawing/2014/main" val="386790573"/>
                    </a:ext>
                  </a:extLst>
                </a:gridCol>
                <a:gridCol w="1043094">
                  <a:extLst>
                    <a:ext uri="{9D8B030D-6E8A-4147-A177-3AD203B41FA5}">
                      <a16:colId xmlns:a16="http://schemas.microsoft.com/office/drawing/2014/main" val="35238650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07081007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4702439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2965301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459765004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903519868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5%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2%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0.003%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9117152"/>
                  </a:ext>
                </a:extLst>
              </a:tr>
              <a:tr h="361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k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~5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~32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~101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~183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5267455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y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0.426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0.274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0.196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0.063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0.020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8536293"/>
                  </a:ext>
                </a:extLst>
              </a:tr>
            </a:tbl>
          </a:graphicData>
        </a:graphic>
      </p:graphicFrame>
      <p:sp>
        <p:nvSpPr>
          <p:cNvPr id="6" name="上下箭头 5"/>
          <p:cNvSpPr/>
          <p:nvPr/>
        </p:nvSpPr>
        <p:spPr bwMode="auto">
          <a:xfrm>
            <a:off x="755576" y="3875087"/>
            <a:ext cx="432048" cy="778049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77921"/>
              </p:ext>
            </p:extLst>
          </p:nvPr>
        </p:nvGraphicFramePr>
        <p:xfrm>
          <a:off x="201901" y="1234478"/>
          <a:ext cx="8816947" cy="256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092">
                  <a:extLst>
                    <a:ext uri="{9D8B030D-6E8A-4147-A177-3AD203B41FA5}">
                      <a16:colId xmlns:a16="http://schemas.microsoft.com/office/drawing/2014/main" val="386790573"/>
                    </a:ext>
                  </a:extLst>
                </a:gridCol>
                <a:gridCol w="1043094">
                  <a:extLst>
                    <a:ext uri="{9D8B030D-6E8A-4147-A177-3AD203B41FA5}">
                      <a16:colId xmlns:a16="http://schemas.microsoft.com/office/drawing/2014/main" val="35238650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07081007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4702439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2965301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459765004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903519868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5%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2%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0.003%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9117152"/>
                  </a:ext>
                </a:extLst>
              </a:tr>
              <a:tr h="361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i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m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5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32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101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183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5267455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i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k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+mn-lt"/>
                          <a:ea typeface="+mn-ea"/>
                        </a:rPr>
                        <a:t>26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+mn-lt"/>
                          <a:ea typeface="+mn-ea"/>
                        </a:rPr>
                        <a:t>135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+mn-lt"/>
                          <a:ea typeface="+mn-ea"/>
                        </a:rPr>
                        <a:t>734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+mn-lt"/>
                          <a:ea typeface="+mn-ea"/>
                        </a:rPr>
                        <a:t>1793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853629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i="1" kern="100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m*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~4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~7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~10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~32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~100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~183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607188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i="1" kern="100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k*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~7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~13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~22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~126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~707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~1744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609348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i="1" kern="100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0.269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0.138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0.083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0.015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0.0028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b="1" kern="100" dirty="0">
                          <a:effectLst/>
                          <a:latin typeface="Times New Roman"/>
                          <a:ea typeface="宋体"/>
                        </a:rPr>
                        <a:t>0.0011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2911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42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E72E923-027D-4E89-872F-3D53C8FB4F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32753" y="1196752"/>
            <a:ext cx="7315200" cy="3096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/>
              <a:t>为保证检测时效性，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当年实际核酸检测一般采用“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次混检”，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但常见的是 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=10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20</a:t>
            </a:r>
            <a:r>
              <a:rPr lang="zh-CN" altLang="en-US" sz="2800" b="1" dirty="0"/>
              <a:t>，为什么？</a:t>
            </a:r>
            <a:endParaRPr lang="en-US" altLang="zh-CN" sz="2800" b="1" dirty="0"/>
          </a:p>
          <a:p>
            <a:endParaRPr lang="en-US" altLang="zh-CN" sz="28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FF3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如何改进模型？</a:t>
            </a:r>
            <a:endParaRPr lang="en-US" altLang="zh-CN" sz="2800" dirty="0">
              <a:solidFill>
                <a:srgbClr val="FF33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E596CE3-271F-427A-BA43-68DEB44FEC1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BE42FE0-49D3-42E5-8D78-E84E50302EB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6189C280-AD25-4262-9334-2EEC822EC71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43E5AC96-611A-4F0D-B90E-05742785E10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A1DB4DF-EEA8-46DC-B45D-1883F147CF5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CC5B7B89-10F1-43A0-831B-5DFF0942C39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CDC2753-BFAB-43C5-B73B-3F9D348B36F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5021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5" y="1326022"/>
            <a:ext cx="1101717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/>
              <a:t>模型建立 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531936" y="1840714"/>
            <a:ext cx="7072512" cy="1126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混合样本呈</a:t>
            </a:r>
            <a:r>
              <a:rPr lang="zh-CN" altLang="en-US" sz="2800" b="1" dirty="0">
                <a:solidFill>
                  <a:srgbClr val="FF0000"/>
                </a:solidFill>
              </a:rPr>
              <a:t>阴性：</a:t>
            </a:r>
            <a:r>
              <a:rPr lang="zh-CN" altLang="en-US" sz="2800" b="1" dirty="0"/>
              <a:t>概率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q</a:t>
            </a:r>
            <a:r>
              <a:rPr lang="en-US" altLang="zh-CN" sz="2800" b="1" i="1" baseline="30000" dirty="0" err="1">
                <a:solidFill>
                  <a:srgbClr val="FF0000"/>
                </a:solidFill>
              </a:rPr>
              <a:t>k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</a:rPr>
              <a:t>，</a:t>
            </a:r>
            <a:r>
              <a:rPr lang="zh-CN" altLang="en-US" sz="2800" b="1" dirty="0"/>
              <a:t>只</a:t>
            </a:r>
            <a:r>
              <a:rPr lang="zh-CN" altLang="en-US" sz="2800" b="1" dirty="0">
                <a:solidFill>
                  <a:srgbClr val="FF0000"/>
                </a:solidFill>
              </a:rPr>
              <a:t>检测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次</a:t>
            </a:r>
            <a:r>
              <a:rPr lang="zh-CN" altLang="en-US" sz="2800" b="1" dirty="0"/>
              <a:t>；</a:t>
            </a:r>
            <a:endParaRPr lang="en-US" altLang="zh-CN" sz="2800" b="1" baseline="30000" dirty="0">
              <a:solidFill>
                <a:srgbClr val="FF0000"/>
              </a:solidFill>
              <a:latin typeface="+mn-lt"/>
            </a:endParaRPr>
          </a:p>
          <a:p>
            <a:pPr algn="l">
              <a:lnSpc>
                <a:spcPct val="120000"/>
              </a:lnSpc>
            </a:pPr>
            <a:r>
              <a:rPr lang="zh-CN" altLang="en-US" sz="2800" b="1" dirty="0"/>
              <a:t>混合样本呈</a:t>
            </a:r>
            <a:r>
              <a:rPr lang="zh-CN" altLang="en-US" sz="2800" b="1" dirty="0">
                <a:solidFill>
                  <a:srgbClr val="FF0000"/>
                </a:solidFill>
              </a:rPr>
              <a:t>阳性：</a:t>
            </a:r>
            <a:r>
              <a:rPr lang="zh-CN" altLang="en-US" sz="2800" b="1" dirty="0"/>
              <a:t>概率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q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</a:rPr>
              <a:t>, </a:t>
            </a:r>
            <a:r>
              <a:rPr lang="zh-CN" altLang="en-US" sz="2800" b="1" dirty="0"/>
              <a:t>需</a:t>
            </a:r>
            <a:r>
              <a:rPr lang="zh-CN" altLang="en-US" sz="2800" b="1" dirty="0">
                <a:solidFill>
                  <a:srgbClr val="FF0000"/>
                </a:solidFill>
              </a:rPr>
              <a:t>检测</a:t>
            </a:r>
            <a:r>
              <a:rPr lang="en-US" altLang="zh-CN" sz="2800" b="1" i="1" dirty="0">
                <a:solidFill>
                  <a:srgbClr val="FF0000"/>
                </a:solidFill>
              </a:rPr>
              <a:t>k +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次</a:t>
            </a:r>
            <a:r>
              <a:rPr lang="en-US" altLang="zh-CN" sz="2800" b="1" dirty="0"/>
              <a:t>  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31936" y="1231316"/>
            <a:ext cx="754025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/>
              <a:t>单个样本</a:t>
            </a:r>
            <a:r>
              <a:rPr lang="zh-CN" altLang="en-US" sz="2800" b="1" dirty="0">
                <a:solidFill>
                  <a:srgbClr val="FF0000"/>
                </a:solidFill>
              </a:rPr>
              <a:t>阳性率 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/>
              <a:t>, </a:t>
            </a:r>
            <a:r>
              <a:rPr lang="zh-CN" altLang="en-US" sz="2800" b="1" dirty="0">
                <a:solidFill>
                  <a:srgbClr val="FF0000"/>
                </a:solidFill>
              </a:rPr>
              <a:t>阴性率 </a:t>
            </a:r>
            <a:r>
              <a:rPr lang="en-US" altLang="zh-CN" sz="2800" b="1" i="1" dirty="0">
                <a:solidFill>
                  <a:srgbClr val="FF0000"/>
                </a:solidFill>
              </a:rPr>
              <a:t>q</a:t>
            </a:r>
            <a:r>
              <a:rPr lang="en-US" altLang="zh-CN" sz="2800" b="1" dirty="0">
                <a:solidFill>
                  <a:srgbClr val="FF0000"/>
                </a:solidFill>
              </a:rPr>
              <a:t>=1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i="1" dirty="0"/>
              <a:t>, k</a:t>
            </a:r>
            <a:r>
              <a:rPr lang="zh-CN" altLang="en-US" sz="2800" b="1" dirty="0"/>
              <a:t>份样本混合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552" y="2996952"/>
            <a:ext cx="828092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个混合样本的平均检测成本（数学期望）：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446" y="3616708"/>
            <a:ext cx="7723018" cy="576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/>
              <a:t>C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= 1 + </a:t>
            </a:r>
            <a:r>
              <a:rPr lang="en-US" altLang="zh-CN" sz="2800" b="1" i="1" dirty="0">
                <a:solidFill>
                  <a:srgbClr val="FF0000"/>
                </a:solidFill>
              </a:rPr>
              <a:t>w 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 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q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)</a:t>
            </a:r>
            <a:r>
              <a:rPr lang="en-US" altLang="zh-CN" sz="2800" b="1" i="1" baseline="30000" dirty="0"/>
              <a:t> </a:t>
            </a:r>
            <a:r>
              <a:rPr lang="en-US" altLang="zh-CN" sz="2800" b="1" dirty="0"/>
              <a:t>= </a:t>
            </a:r>
            <a:r>
              <a:rPr lang="en-US" altLang="zh-CN" sz="2800" b="1" i="1" dirty="0"/>
              <a:t>wk+</a:t>
            </a:r>
            <a:r>
              <a:rPr lang="en-US" altLang="zh-CN" sz="2800" b="1" dirty="0"/>
              <a:t>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wkq</a:t>
            </a:r>
            <a:r>
              <a:rPr lang="en-US" altLang="zh-CN" sz="2800" b="1" i="1" baseline="30000" dirty="0"/>
              <a:t>k</a:t>
            </a:r>
            <a:endParaRPr lang="zh-CN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7544" y="4221088"/>
            <a:ext cx="561662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800" b="1" dirty="0"/>
              <a:t>全部样本的</a:t>
            </a:r>
            <a:r>
              <a:rPr lang="zh-CN" altLang="en-US" sz="2800" b="1" dirty="0">
                <a:solidFill>
                  <a:srgbClr val="FF0000"/>
                </a:solidFill>
              </a:rPr>
              <a:t>平均</a:t>
            </a:r>
            <a:r>
              <a:rPr lang="zh-CN" altLang="en-US" sz="2800" b="1" dirty="0"/>
              <a:t>总检测成本：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3438" y="4808250"/>
            <a:ext cx="7579002" cy="576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C </a:t>
            </a:r>
            <a:r>
              <a:rPr lang="en-US" altLang="zh-CN" sz="2800" b="1" dirty="0"/>
              <a:t>= </a:t>
            </a:r>
            <a:r>
              <a:rPr lang="en-US" altLang="zh-CN" sz="2800" b="1" i="1" dirty="0"/>
              <a:t>C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n/k</a:t>
            </a:r>
            <a:r>
              <a:rPr lang="en-US" altLang="zh-CN" sz="2800" b="1" dirty="0"/>
              <a:t>) </a:t>
            </a:r>
            <a:r>
              <a:rPr lang="en-US" altLang="zh-CN" sz="2800" b="1" i="1" dirty="0">
                <a:solidFill>
                  <a:srgbClr val="FF0000"/>
                </a:solidFill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</a:rPr>
              <a:t> [</a:t>
            </a:r>
            <a:r>
              <a:rPr lang="en-US" altLang="zh-CN" sz="2800" b="1" i="1" dirty="0">
                <a:solidFill>
                  <a:srgbClr val="FF0000"/>
                </a:solidFill>
              </a:rPr>
              <a:t>w + </a:t>
            </a:r>
            <a:r>
              <a:rPr lang="en-US" altLang="zh-CN" sz="2800" b="1" dirty="0">
                <a:solidFill>
                  <a:srgbClr val="FF0000"/>
                </a:solidFill>
              </a:rPr>
              <a:t>1/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dirty="0"/>
              <a:t> </a:t>
            </a:r>
            <a:r>
              <a:rPr lang="en-US" altLang="zh-CN" sz="2800" b="1" i="1" dirty="0">
                <a:solidFill>
                  <a:srgbClr val="FF0000"/>
                </a:solidFill>
              </a:rPr>
              <a:t>w</a:t>
            </a:r>
            <a:r>
              <a:rPr lang="en-US" altLang="zh-CN" sz="2800" b="1" dirty="0">
                <a:solidFill>
                  <a:srgbClr val="FF0000"/>
                </a:solidFill>
              </a:rPr>
              <a:t>(1</a:t>
            </a:r>
            <a:r>
              <a:rPr lang="en-US" altLang="zh-CN" sz="2800" b="1" dirty="0">
                <a:solidFill>
                  <a:srgbClr val="FF0000"/>
                </a:solidFill>
                <a:latin typeface="华文宋体"/>
                <a:ea typeface="华文宋体"/>
              </a:rPr>
              <a:t>−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</a:rPr>
              <a:t>]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539552" y="467961"/>
            <a:ext cx="676875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/>
              <a:t>模型扩展</a:t>
            </a:r>
            <a:r>
              <a:rPr lang="en-US" altLang="zh-CN" sz="3200" b="1" dirty="0"/>
              <a:t>3</a:t>
            </a:r>
            <a:r>
              <a:rPr lang="zh-CN" altLang="en-US" sz="3200" b="1" dirty="0"/>
              <a:t>：平均检测</a:t>
            </a:r>
            <a:r>
              <a:rPr lang="zh-CN" altLang="en-US" sz="3200" b="1" dirty="0">
                <a:solidFill>
                  <a:srgbClr val="FF0000"/>
                </a:solidFill>
              </a:rPr>
              <a:t>成本</a:t>
            </a:r>
            <a:r>
              <a:rPr lang="zh-CN" altLang="en-US" sz="3200" b="1" dirty="0"/>
              <a:t>模型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977364" y="5434866"/>
            <a:ext cx="7579002" cy="575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i="1" dirty="0">
                <a:solidFill>
                  <a:srgbClr val="FF0000"/>
                </a:solidFill>
              </a:rPr>
              <a:t>                    </a:t>
            </a:r>
            <a:r>
              <a:rPr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 b="1" dirty="0">
                <a:solidFill>
                  <a:srgbClr val="FF0000"/>
                </a:solidFill>
              </a:rPr>
              <a:t> [1/</a:t>
            </a:r>
            <a:r>
              <a:rPr lang="en-US" altLang="zh-CN" sz="2800" b="1" i="1" dirty="0">
                <a:solidFill>
                  <a:srgbClr val="FF0000"/>
                </a:solidFill>
              </a:rPr>
              <a:t>k + 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wpk</a:t>
            </a:r>
            <a:r>
              <a:rPr lang="en-US" altLang="zh-CN" sz="2800" b="1" dirty="0">
                <a:solidFill>
                  <a:srgbClr val="FF0000"/>
                </a:solidFill>
              </a:rPr>
              <a:t>]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504" y="5434866"/>
            <a:ext cx="2630848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)</a:t>
            </a:r>
            <a:r>
              <a:rPr lang="en-US" altLang="zh-CN" sz="2800" b="1" i="1" baseline="30000" dirty="0"/>
              <a:t>k</a:t>
            </a:r>
            <a:r>
              <a:rPr lang="en-US" altLang="zh-CN" sz="2800" b="1" dirty="0"/>
              <a:t>  </a:t>
            </a:r>
            <a:r>
              <a:rPr lang="en-US" altLang="zh-CN" sz="2800" b="1" dirty="0">
                <a:sym typeface="Symbol"/>
              </a:rPr>
              <a:t>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(1</a:t>
            </a:r>
            <a:r>
              <a:rPr lang="en-US" altLang="zh-CN" sz="2800" b="1" dirty="0">
                <a:latin typeface="华文宋体"/>
                <a:ea typeface="华文宋体"/>
              </a:rPr>
              <a:t>−</a:t>
            </a:r>
            <a:r>
              <a:rPr lang="en-US" altLang="zh-CN" sz="2800" b="1" i="1" dirty="0"/>
              <a:t>kp</a:t>
            </a:r>
            <a:r>
              <a:rPr lang="en-US" altLang="zh-CN" sz="2800" b="1" dirty="0"/>
              <a:t>)</a:t>
            </a:r>
          </a:p>
        </p:txBody>
      </p:sp>
      <p:sp>
        <p:nvSpPr>
          <p:cNvPr id="14" name="矩形 13"/>
          <p:cNvSpPr/>
          <p:nvPr/>
        </p:nvSpPr>
        <p:spPr>
          <a:xfrm>
            <a:off x="2051720" y="6091183"/>
            <a:ext cx="38555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当</a:t>
            </a:r>
            <a:r>
              <a:rPr lang="zh-CN" altLang="en-US" sz="2800" b="1" i="1" dirty="0"/>
              <a:t> </a:t>
            </a:r>
            <a:r>
              <a:rPr lang="en-US" altLang="zh-CN" sz="2800" b="1" i="1" dirty="0">
                <a:solidFill>
                  <a:srgbClr val="FF0000"/>
                </a:solidFill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sym typeface="Symbol"/>
              </a:rPr>
              <a:t>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(</a:t>
            </a:r>
            <a:r>
              <a:rPr lang="en-US" altLang="zh-CN" sz="2800" b="1" i="1" dirty="0" err="1">
                <a:solidFill>
                  <a:srgbClr val="FF0000"/>
                </a:solidFill>
              </a:rPr>
              <a:t>wp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i="1" baseline="30000" dirty="0">
                <a:solidFill>
                  <a:srgbClr val="FF0000"/>
                </a:solidFill>
              </a:rPr>
              <a:t>-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1/2  </a:t>
            </a:r>
            <a:r>
              <a:rPr lang="zh-CN" altLang="en-US" sz="2800" b="1" dirty="0"/>
              <a:t>时</a:t>
            </a:r>
            <a:r>
              <a:rPr lang="en-US" altLang="zh-CN" sz="2800" b="1" i="1" dirty="0"/>
              <a:t>C</a:t>
            </a:r>
            <a:r>
              <a:rPr lang="zh-CN" altLang="en-US" sz="2800" b="1" dirty="0"/>
              <a:t>最小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4326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/>
      <p:bldP spid="8" grpId="0"/>
      <p:bldP spid="9" grpId="0"/>
      <p:bldP spid="12" grpId="0"/>
      <p:bldP spid="2" grpId="0" animBg="1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940966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accent2"/>
                </a:solidFill>
              </a:rPr>
              <a:t>回顾：“</a:t>
            </a:r>
            <a:r>
              <a:rPr lang="en-US" altLang="zh-CN" sz="3600" b="1" dirty="0">
                <a:solidFill>
                  <a:schemeClr val="accent2"/>
                </a:solidFill>
              </a:rPr>
              <a:t>1</a:t>
            </a:r>
            <a:r>
              <a:rPr lang="zh-CN" altLang="en-US" sz="3600" b="1" dirty="0">
                <a:solidFill>
                  <a:schemeClr val="accent2"/>
                </a:solidFill>
              </a:rPr>
              <a:t>次混检”</a:t>
            </a:r>
            <a:r>
              <a:rPr lang="en-US" altLang="zh-CN" sz="3600" b="1" dirty="0">
                <a:solidFill>
                  <a:schemeClr val="accent2"/>
                </a:solidFill>
              </a:rPr>
              <a:t> </a:t>
            </a:r>
            <a:r>
              <a:rPr lang="zh-CN" altLang="en-US" sz="3600" b="1" dirty="0">
                <a:solidFill>
                  <a:schemeClr val="accent2"/>
                </a:solidFill>
              </a:rPr>
              <a:t>结果</a:t>
            </a:r>
            <a:br>
              <a:rPr lang="zh-CN" altLang="en-US" sz="3600" b="1" dirty="0">
                <a:solidFill>
                  <a:schemeClr val="accent2"/>
                </a:solidFill>
              </a:rPr>
            </a:br>
            <a:endParaRPr lang="zh-CN" altLang="en-US" sz="36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1355"/>
              </p:ext>
            </p:extLst>
          </p:nvPr>
        </p:nvGraphicFramePr>
        <p:xfrm>
          <a:off x="163526" y="1412776"/>
          <a:ext cx="8816947" cy="1285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3092">
                  <a:extLst>
                    <a:ext uri="{9D8B030D-6E8A-4147-A177-3AD203B41FA5}">
                      <a16:colId xmlns:a16="http://schemas.microsoft.com/office/drawing/2014/main" val="386790573"/>
                    </a:ext>
                  </a:extLst>
                </a:gridCol>
                <a:gridCol w="1043094">
                  <a:extLst>
                    <a:ext uri="{9D8B030D-6E8A-4147-A177-3AD203B41FA5}">
                      <a16:colId xmlns:a16="http://schemas.microsoft.com/office/drawing/2014/main" val="35238650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07081007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4702439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2965301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459765004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903519868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p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5%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2%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0.003%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9117152"/>
                  </a:ext>
                </a:extLst>
              </a:tr>
              <a:tr h="361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k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~5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~32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~101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~183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5267455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i="1" kern="100" dirty="0">
                          <a:solidFill>
                            <a:srgbClr val="FF0000"/>
                          </a:solidFill>
                          <a:effectLst/>
                        </a:rPr>
                        <a:t>T/n</a:t>
                      </a:r>
                      <a:endParaRPr lang="zh-CN" sz="2800" b="1" i="1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0.426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0.274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0.196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0.063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0.020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effectLst/>
                        </a:rPr>
                        <a:t>0.011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8536293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699554" y="2852936"/>
            <a:ext cx="82809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可能 </a:t>
            </a:r>
            <a:r>
              <a:rPr lang="en-US" altLang="zh-CN" sz="2800" b="1" i="1" dirty="0">
                <a:solidFill>
                  <a:srgbClr val="FF0000"/>
                </a:solidFill>
              </a:rPr>
              <a:t>w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sym typeface="Symbol"/>
              </a:rPr>
              <a:t>~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100</a:t>
            </a:r>
            <a:r>
              <a:rPr lang="zh-CN" altLang="en-US" sz="2800" b="1" dirty="0">
                <a:solidFill>
                  <a:schemeClr val="tx2"/>
                </a:solidFill>
              </a:rPr>
              <a:t>，或者 </a:t>
            </a:r>
            <a:r>
              <a:rPr lang="en-US" altLang="zh-CN" sz="2800" b="1" i="1" dirty="0">
                <a:solidFill>
                  <a:schemeClr val="tx2"/>
                </a:solidFill>
              </a:rPr>
              <a:t>p</a:t>
            </a:r>
            <a:r>
              <a:rPr lang="en-US" altLang="zh-CN" sz="2800" b="1" dirty="0">
                <a:solidFill>
                  <a:schemeClr val="tx2"/>
                </a:solidFill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</a:rPr>
              <a:t>较大（不再是 </a:t>
            </a:r>
            <a:r>
              <a:rPr lang="en-US" altLang="zh-CN" sz="2800" b="1" dirty="0">
                <a:solidFill>
                  <a:schemeClr val="tx2"/>
                </a:solidFill>
              </a:rPr>
              <a:t>~ 0.3 / </a:t>
            </a:r>
            <a:r>
              <a:rPr lang="zh-CN" altLang="en-US" sz="2800" b="1" dirty="0">
                <a:solidFill>
                  <a:schemeClr val="tx2"/>
                </a:solidFill>
              </a:rPr>
              <a:t>万）</a:t>
            </a:r>
            <a:r>
              <a:rPr lang="zh-CN" altLang="en-US" sz="2800" b="1" dirty="0"/>
              <a:t>；</a:t>
            </a:r>
            <a:endParaRPr lang="en-US" altLang="zh-CN" sz="2800" b="1" dirty="0"/>
          </a:p>
          <a:p>
            <a:r>
              <a:rPr lang="zh-CN" altLang="en-US" sz="2800" b="1" dirty="0"/>
              <a:t>否则：现实中常采用 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=10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20</a:t>
            </a:r>
            <a:r>
              <a:rPr lang="zh-CN" altLang="en-US" sz="2800" b="1" dirty="0"/>
              <a:t>，仍有改进空间</a:t>
            </a:r>
            <a:endParaRPr lang="zh-CN" altLang="en-US" sz="2800" dirty="0"/>
          </a:p>
        </p:txBody>
      </p:sp>
      <p:grpSp>
        <p:nvGrpSpPr>
          <p:cNvPr id="9" name="组合 8"/>
          <p:cNvGrpSpPr/>
          <p:nvPr/>
        </p:nvGrpSpPr>
        <p:grpSpPr>
          <a:xfrm>
            <a:off x="683568" y="4653136"/>
            <a:ext cx="7848871" cy="1800200"/>
            <a:chOff x="611560" y="4221088"/>
            <a:chExt cx="7848871" cy="1800200"/>
          </a:xfrm>
        </p:grpSpPr>
        <p:sp>
          <p:nvSpPr>
            <p:cNvPr id="7" name="矩形 6"/>
            <p:cNvSpPr/>
            <p:nvPr/>
          </p:nvSpPr>
          <p:spPr>
            <a:xfrm>
              <a:off x="1975958" y="4859578"/>
              <a:ext cx="648447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chemeClr val="accent2"/>
                  </a:solidFill>
                </a:rPr>
                <a:t>你还能想到哪些有关的问题或扩展模型？</a:t>
              </a:r>
              <a:endParaRPr lang="zh-CN" altLang="en-US" sz="2800" dirty="0">
                <a:solidFill>
                  <a:schemeClr val="accent2"/>
                </a:solidFill>
              </a:endParaRPr>
            </a:p>
          </p:txBody>
        </p:sp>
        <p:sp>
          <p:nvSpPr>
            <p:cNvPr id="8" name="动作按钮: 帮助 7">
              <a:hlinkClick r:id="" action="ppaction://noaction" highlightClick="1"/>
            </p:cNvPr>
            <p:cNvSpPr/>
            <p:nvPr/>
          </p:nvSpPr>
          <p:spPr bwMode="auto">
            <a:xfrm>
              <a:off x="611560" y="4221088"/>
              <a:ext cx="1296144" cy="1800200"/>
            </a:xfrm>
            <a:prstGeom prst="actionButtonHelp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877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2"/>
          <p:cNvSpPr txBox="1">
            <a:spLocks noChangeArrowheads="1"/>
          </p:cNvSpPr>
          <p:nvPr/>
        </p:nvSpPr>
        <p:spPr bwMode="auto">
          <a:xfrm>
            <a:off x="131763" y="333375"/>
            <a:ext cx="56642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下次课部分内容预告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251520" y="1268760"/>
            <a:ext cx="3600400" cy="107721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/>
              <a:t>被碎纸机切碎后的</a:t>
            </a:r>
            <a:r>
              <a:rPr lang="zh-CN" altLang="zh-CN" sz="3200" b="1" dirty="0"/>
              <a:t>纸片</a:t>
            </a:r>
            <a:r>
              <a:rPr lang="zh-CN" altLang="en-US" sz="3200" b="1" dirty="0"/>
              <a:t>的</a:t>
            </a:r>
            <a:r>
              <a:rPr lang="zh-CN" altLang="zh-CN" sz="3200" b="1" dirty="0"/>
              <a:t>拼接复原</a:t>
            </a:r>
            <a:endParaRPr lang="zh-CN" altLang="en-US" sz="3200" b="1" dirty="0"/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95536" y="3645024"/>
            <a:ext cx="4969247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[</a:t>
            </a:r>
            <a:r>
              <a:rPr lang="zh-CN" altLang="en-US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注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] </a:t>
            </a:r>
            <a:r>
              <a:rPr lang="zh-CN" altLang="en-US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分析纸片有什么特征？</a:t>
            </a:r>
            <a:endParaRPr lang="en-US" altLang="zh-CN" sz="28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        </a:t>
            </a:r>
            <a:r>
              <a:rPr lang="zh-CN" altLang="en-US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主要思考模型的建立</a:t>
            </a:r>
            <a:endParaRPr lang="en-US" altLang="zh-CN" sz="28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（算法设计与实现较复杂）</a:t>
            </a:r>
          </a:p>
        </p:txBody>
      </p:sp>
      <p:pic>
        <p:nvPicPr>
          <p:cNvPr id="22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620144"/>
            <a:ext cx="3226717" cy="573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08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676400" y="476672"/>
            <a:ext cx="46482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谢谢！</a:t>
            </a:r>
            <a:endParaRPr lang="en-US" altLang="zh-CN" sz="36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10548938" y="5661025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800" b="1">
              <a:solidFill>
                <a:srgbClr val="FF3300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07504" y="1268760"/>
            <a:ext cx="7776864" cy="86177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注</a:t>
            </a:r>
            <a:r>
              <a:rPr lang="en-US" altLang="zh-CN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本课件主要参考了以下资料：</a:t>
            </a:r>
            <a:endParaRPr lang="en-US" altLang="zh-CN" sz="20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https://mp.weixin.qq.com/s/XZ6bjs2szJGxq1ahafveww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49" y="2245198"/>
            <a:ext cx="6341268" cy="1587216"/>
          </a:xfrm>
          <a:prstGeom prst="rect">
            <a:avLst/>
          </a:prstGeom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8335" y="4799251"/>
            <a:ext cx="7776864" cy="132343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注</a:t>
            </a:r>
            <a:r>
              <a:rPr lang="en-US" altLang="zh-CN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本课件还参考了以下资料：</a:t>
            </a:r>
            <a:endParaRPr lang="en-US" altLang="zh-CN" sz="20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https://liuwentao.blog.csdn.net/article/details/108106264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https://www.zhihu.com/question/524417189/answer/2411517075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5"/>
  <p:tag name="PROBLEMSCORE" val="2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0.0"/>
  <p:tag name="PROBLEMVOICEALLOW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5"/>
  <p:tag name="PROBLEMSCORE" val="2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0.0"/>
  <p:tag name="PROBLEMVOICEALLOWED" val="Fals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G:\数学模型电子教案\shuxuemoxing.pot</Template>
  <TotalTime>11461</TotalTime>
  <Words>3252</Words>
  <Application>Microsoft Office PowerPoint</Application>
  <PresentationFormat>全屏显示(4:3)</PresentationFormat>
  <Paragraphs>458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华文宋体</vt:lpstr>
      <vt:lpstr>楷体_GB2312</vt:lpstr>
      <vt:lpstr>隶书</vt:lpstr>
      <vt:lpstr>宋体</vt:lpstr>
      <vt:lpstr>Microsoft Yahei</vt:lpstr>
      <vt:lpstr>Arial</vt:lpstr>
      <vt:lpstr>Calibri</vt:lpstr>
      <vt:lpstr>Cambria Math</vt:lpstr>
      <vt:lpstr>Times New Roman</vt:lpstr>
      <vt:lpstr>shuxuemoxing</vt:lpstr>
      <vt:lpstr>PowerPoint 演示文稿</vt:lpstr>
      <vt:lpstr>2021年北京高考数学第18题</vt:lpstr>
      <vt:lpstr>2022阿里巴巴全球数学大赛大众选题集锦</vt:lpstr>
      <vt:lpstr>2022华东杯数学建模竞赛A题</vt:lpstr>
      <vt:lpstr>群组检测问题  (Group Testing Problem)</vt:lpstr>
      <vt:lpstr>“k合1”组合检测法：最佳“k”=? </vt:lpstr>
      <vt:lpstr>PowerPoint 演示文稿</vt:lpstr>
      <vt:lpstr>组合模型：部分结论</vt:lpstr>
      <vt:lpstr>PowerPoint 演示文稿</vt:lpstr>
      <vt:lpstr>实际：一般不知道阳性样本数d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模型扩展2：2次混检</vt:lpstr>
      <vt:lpstr>2次混检：模型分析与求解</vt:lpstr>
      <vt:lpstr>2次混检：计算结果</vt:lpstr>
      <vt:lpstr>PowerPoint 演示文稿</vt:lpstr>
      <vt:lpstr>PowerPoint 演示文稿</vt:lpstr>
      <vt:lpstr>回顾：“1次混检” 结果 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Jiang</dc:creator>
  <cp:lastModifiedBy>Xie Jinxing</cp:lastModifiedBy>
  <cp:revision>694</cp:revision>
  <cp:lastPrinted>2024-11-19T12:59:02Z</cp:lastPrinted>
  <dcterms:created xsi:type="dcterms:W3CDTF">2000-02-18T13:05:01Z</dcterms:created>
  <dcterms:modified xsi:type="dcterms:W3CDTF">2024-11-19T13:00:46Z</dcterms:modified>
</cp:coreProperties>
</file>